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발표" id="{EEBD9CA4-487C-A22B-E670-4DB26EF84DFD}">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67"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300" b="0" i="0" u="none" strike="noStrike">
                <a:solidFill>
                  <a:srgbClr val="1F2A3C"/>
                </a:solidFill>
                <a:latin typeface="+mn-lt"/>
              </a:defRPr>
            </a:pPr>
            <a:r>
              <a:rPr lang="en-US" altLang="ko-KR" sz="1300" b="0" i="0" u="none" strike="noStrike">
                <a:solidFill>
                  <a:srgbClr val="1F2A3C"/>
                </a:solidFill>
                <a:latin typeface="+mn-lt"/>
              </a:rPr>
              <a:t>2025</a:t>
            </a:r>
            <a:r>
              <a:rPr lang="ko-KR" altLang="en-US" sz="1300" b="0" i="0" u="none" strike="noStrike">
                <a:solidFill>
                  <a:srgbClr val="1F2A3C"/>
                </a:solidFill>
                <a:latin typeface="+mn-lt"/>
              </a:rPr>
              <a:t>년 출고 물량 구성 </a:t>
            </a:r>
            <a:r>
              <a:rPr lang="en-US" altLang="ko-KR" sz="1300" b="0" i="0" u="none" strike="noStrike">
                <a:solidFill>
                  <a:srgbClr val="1F2A3C"/>
                </a:solidFill>
                <a:latin typeface="+mn-lt"/>
              </a:rPr>
              <a:t>(%)</a:t>
            </a:r>
          </a:p>
        </c:rich>
      </c:tx>
      <c:overlay val="0"/>
    </c:title>
    <c:autoTitleDeleted val="0"/>
    <c:plotArea>
      <c:layout/>
      <c:doughnutChart>
        <c:varyColors val="1"/>
        <c:ser>
          <c:idx val="0"/>
          <c:order val="0"/>
          <c:tx>
            <c:strRef>
              <c:f>Sheet1!$B$1</c:f>
              <c:strCache>
                <c:ptCount val="1"/>
                <c:pt idx="0">
                  <c:v>2025년 출고 물량 구성</c:v>
                </c:pt>
              </c:strCache>
            </c:strRef>
          </c:tx>
          <c:spPr>
            <a:solidFill>
              <a:schemeClr val="accent1"/>
            </a:solidFill>
            <a:ln w="9525" cap="flat">
              <a:solidFill>
                <a:srgbClr val="F9F9F9"/>
              </a:solidFill>
              <a:prstDash val="solid"/>
              <a:round/>
            </a:ln>
            <a:effectLst/>
          </c:spPr>
          <c:dPt>
            <c:idx val="0"/>
            <c:bubble3D val="0"/>
            <c:spPr>
              <a:solidFill>
                <a:srgbClr val="7A8494"/>
              </a:solidFill>
              <a:effectLst/>
            </c:spPr>
            <c:extLst>
              <c:ext xmlns:c16="http://schemas.microsoft.com/office/drawing/2014/chart" uri="{C3380CC4-5D6E-409C-BE32-E72D297353CC}">
                <c16:uniqueId val="{00000001-8CF8-4803-87DC-A7A16E39407C}"/>
              </c:ext>
            </c:extLst>
          </c:dPt>
          <c:dPt>
            <c:idx val="1"/>
            <c:bubble3D val="0"/>
            <c:spPr>
              <a:solidFill>
                <a:srgbClr val="E07B2A"/>
              </a:solidFill>
              <a:effectLst/>
            </c:spPr>
            <c:extLst>
              <c:ext xmlns:c16="http://schemas.microsoft.com/office/drawing/2014/chart" uri="{C3380CC4-5D6E-409C-BE32-E72D297353CC}">
                <c16:uniqueId val="{00000003-8CF8-4803-87DC-A7A16E39407C}"/>
              </c:ext>
            </c:extLst>
          </c:dPt>
          <c:dPt>
            <c:idx val="2"/>
            <c:bubble3D val="0"/>
            <c:spPr>
              <a:solidFill>
                <a:srgbClr val="5B84B1"/>
              </a:solidFill>
              <a:effectLst/>
            </c:spPr>
            <c:extLst>
              <c:ext xmlns:c16="http://schemas.microsoft.com/office/drawing/2014/chart" uri="{C3380CC4-5D6E-409C-BE32-E72D297353CC}">
                <c16:uniqueId val="{00000005-8CF8-4803-87DC-A7A16E39407C}"/>
              </c:ext>
            </c:extLst>
          </c:dPt>
          <c:dLbls>
            <c:dLbl>
              <c:idx val="0"/>
              <c:numFmt formatCode="0%" sourceLinked="0"/>
              <c:spPr/>
              <c:txPr>
                <a:bodyPr/>
                <a:lstStyle/>
                <a:p>
                  <a:pPr>
                    <a:defRPr sz="1300" b="0" i="0" u="none" strike="noStrike">
                      <a:solidFill>
                        <a:srgbClr val="FFFFFF"/>
                      </a:solidFill>
                      <a:latin typeface="+mn-lt"/>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CF8-4803-87DC-A7A16E39407C}"/>
                </c:ext>
              </c:extLst>
            </c:dLbl>
            <c:dLbl>
              <c:idx val="1"/>
              <c:numFmt formatCode="0%" sourceLinked="0"/>
              <c:spPr/>
              <c:txPr>
                <a:bodyPr/>
                <a:lstStyle/>
                <a:p>
                  <a:pPr>
                    <a:defRPr sz="1300" b="0" i="0" u="none" strike="noStrike">
                      <a:solidFill>
                        <a:srgbClr val="FFFFFF"/>
                      </a:solidFill>
                      <a:latin typeface="+mn-lt"/>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CF8-4803-87DC-A7A16E39407C}"/>
                </c:ext>
              </c:extLst>
            </c:dLbl>
            <c:dLbl>
              <c:idx val="2"/>
              <c:numFmt formatCode="0%" sourceLinked="0"/>
              <c:spPr/>
              <c:txPr>
                <a:bodyPr/>
                <a:lstStyle/>
                <a:p>
                  <a:pPr>
                    <a:defRPr sz="1300" b="0" i="0" u="none" strike="noStrike">
                      <a:solidFill>
                        <a:srgbClr val="FFFFFF"/>
                      </a:solidFill>
                      <a:latin typeface="+mn-lt"/>
                    </a:defRPr>
                  </a:pPr>
                  <a:endParaRPr lang="ko-K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CF8-4803-87DC-A7A16E39407C}"/>
                </c:ext>
              </c:extLst>
            </c:dLbl>
            <c:numFmt formatCode="0%" sourceLinked="0"/>
            <c:spPr>
              <a:noFill/>
              <a:ln>
                <a:noFill/>
              </a:ln>
              <a:effectLst/>
            </c:spPr>
            <c:txPr>
              <a:bodyPr/>
              <a:lstStyle/>
              <a:p>
                <a:pPr>
                  <a:defRPr sz="1800" b="0" i="0" u="none" strike="noStrike">
                    <a:solidFill>
                      <a:srgbClr val="000000"/>
                    </a:solidFill>
                    <a:latin typeface="Arial"/>
                  </a:defRPr>
                </a:pPr>
                <a:endParaRPr lang="ko-K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월말 전표 품목 (음성 생산 추정)</c:v>
                </c:pt>
                <c:pt idx="1">
                  <c:v>청주 생산 품목</c:v>
                </c:pt>
                <c:pt idx="2">
                  <c:v>캡 등 기타</c:v>
                </c:pt>
              </c:strCache>
            </c:strRef>
          </c:cat>
          <c:val>
            <c:numRef>
              <c:f>Sheet1!$B$2:$B$4</c:f>
              <c:numCache>
                <c:formatCode>General</c:formatCode>
                <c:ptCount val="3"/>
                <c:pt idx="0">
                  <c:v>56</c:v>
                </c:pt>
                <c:pt idx="1">
                  <c:v>39</c:v>
                </c:pt>
                <c:pt idx="2">
                  <c:v>5</c:v>
                </c:pt>
              </c:numCache>
            </c:numRef>
          </c:val>
          <c:extLst>
            <c:ext xmlns:c16="http://schemas.microsoft.com/office/drawing/2014/chart" uri="{C3380CC4-5D6E-409C-BE32-E72D297353CC}">
              <c16:uniqueId val="{00000006-8CF8-4803-87DC-A7A16E39407C}"/>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200">
              <a:solidFill>
                <a:srgbClr val="1F2A3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38800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새한프라텍 생산지원팀 과제인 출하예측 기반 생산계획 수립 프로젝트의 진행 계획을 발표하겠습니다. 오늘은 우리가 맡은 프로젝트가 무엇인지, 어떻게 할 것인지, 더 잘하려면 무엇이 필요한지 순서로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새한프라텍 생산지원팀의 문제입니다. 주간 생산계획이 일주일에 다섯 번 정도 바뀌고, 그때마다 현장 인원을 하루 두세 번 다시 배치합니다. 재고는 ERP와 엑셀에 이중으로 관리되고 원자재 발주는 수작업이라, 계획이 바뀌면 재고와 자재와 인원이 함께 흔들립니다. 회사는 이 과제를 긴급 우선순위로 지정했습니다. 우리는 5년 출고 이력으로 다음 주 수요를 예측하는 엔진, 그 예측값으로 계획을 세우는 화면과 재고 보드, 그리고 변경 이유를 남기는 이력 화면을 만듭니다.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회사에서 받은 데이터는 5년치 판매·생산 실적 14만 6천 건입니다. 뜯어보니 세 가지가 보였습니다. 첫째, 전체 물량의 56%는 매달 말일 한 건으로 잡히는 품목이라 주간 예측 대상이 아니고, 실제 대상인 청주 생산 품목은 329개 중 79개가 80%를 차지합니다. 둘째, 품번은 해마다 바뀌지만 금형 계열인 품종은 안정적이어서 품종과 거래처 단위로 예측합니다. 셋째, 2024년 7월 1공장이 멈췄는데 다음 날 오창 공장 화재가 보도됐습니다. 이 구간은 학습에서 뺍니다.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예측은 품목 성격에 따라 세 가지로 나눠서 합니다. 매주 꾸준히 나가는 품목은 시계열 예측, 몰아서 나가는 품목은 다음 주문이 언제 올지와 로트 크기를 예측, 월 1회 품목은 월 단위로만 관리합니다. 검증은 2021년부터 2024년까지만 학습시키고 2025년을 모르는 상태에서 매주 예측해 실제와 비교합니다. 그리고 기상청 기온, 명절, 주류 통계 같은 외부 변수를 하나씩 넣어 점수가 좋아지는 것만 남깁니다.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진행은 네 단계입니다. 데이터 정리, 예측 모델과 검증, 외부 변수 실험, 그리고 웹 화면입니다. 각 단계마다 통과 기준을 숫자로 정해 두었고, 1단계부터 3단계까지는 파이썬 분석 코드만으로 진행합니다. 웹 화면은 예측이 쓸 만해진 뒤에 만들고, 적재 계산기와 원자재 발주는 나중에 같은 데이터 위에 붙입니다.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더 잘 되려면 필요한 것들입니다. 지금 쓰는 주간 생산계획 양식과 수량을 정하는 근거, 설비별 생산 가능 품목과 생산능력, 재고 데이터, 거래처가 미리 알려주는 물량과 주문에서 출고까지 걸리는 날짜, 월말 전표 품목의 실체와 C급의 의미, 그리고 고정 구간과 안전재고 같은 운영 개념이 회사에 있는지입니다. 각각 왜 필요한지 적어 두었고, 다음 주 기업 이사님이 오시면 이 순서로 질문할 예정입니다.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3A5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11091672" cy="12801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3474720"/>
            <a:ext cx="11091672" cy="1463040"/>
          </a:xfrm>
          <a:prstGeom prst="rect">
            <a:avLst/>
          </a:prstGeom>
          <a:noFill/>
          <a:ln/>
        </p:spPr>
        <p:txBody>
          <a:bodyPr wrap="square" rtlCol="0"/>
          <a:lstStyle>
            <a:lvl1pPr marL="0" indent="0">
              <a:buNone/>
              <a:defRPr lang="en-US" sz="2000" dirty="0">
                <a:solidFill>
                  <a:schemeClr val="bg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rtlCol="0"/>
          <a:lstStyle>
            <a:lvl1pPr marL="0" indent="0">
              <a:buNone/>
              <a:defRPr lang="en-US" sz="3000" b="1" dirty="0">
                <a:solidFill>
                  <a:schemeClr val="tx2"/>
                </a:solidFill>
              </a:defRPr>
            </a:lvl1pPr>
          </a:lstStyle>
          <a:p>
            <a:pPr marL="0" indent="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11091672" cy="1280160"/>
          </a:xfrm>
          <a:prstGeom prst="rect">
            <a:avLst/>
          </a:prstGeom>
          <a:noFill/>
          <a:ln/>
        </p:spPr>
        <p:txBody>
          <a:bodyPr wrap="square" lIns="0" tIns="0" rIns="0" bIns="0" rtlCol="0"/>
          <a:lstStyle/>
          <a:p>
            <a:pPr marL="0" indent="0" algn="l">
              <a:buNone/>
            </a:pPr>
            <a:r>
              <a:rPr lang="en-US" sz="4000" b="1" dirty="0">
                <a:solidFill>
                  <a:schemeClr val="bg1"/>
                </a:solidFill>
              </a:rPr>
              <a:t>출하예측 기반 생산계획 수립</a:t>
            </a:r>
            <a:endParaRPr lang="en-US" sz="4000" dirty="0"/>
          </a:p>
        </p:txBody>
      </p:sp>
      <p:sp>
        <p:nvSpPr>
          <p:cNvPr id="3" name="Text 0"/>
          <p:cNvSpPr>
            <a:spLocks noGrp="1"/>
          </p:cNvSpPr>
          <p:nvPr>
            <p:ph type="body" idx="101" hasCustomPrompt="1"/>
          </p:nvPr>
        </p:nvSpPr>
        <p:spPr>
          <a:xfrm>
            <a:off x="548640" y="3474720"/>
            <a:ext cx="11091672" cy="1463040"/>
          </a:xfrm>
          <a:prstGeom prst="rect">
            <a:avLst/>
          </a:prstGeom>
          <a:noFill/>
          <a:ln/>
        </p:spPr>
        <p:txBody>
          <a:bodyPr wrap="square" lIns="0" tIns="0" rIns="0" bIns="0" rtlCol="0"/>
          <a:lstStyle/>
          <a:p>
            <a:pPr marL="0" indent="0">
              <a:buNone/>
            </a:pPr>
            <a:r>
              <a:rPr lang="en-US" sz="2000" dirty="0">
                <a:solidFill>
                  <a:schemeClr val="bg1"/>
                </a:solidFill>
              </a:rPr>
              <a:t>새한프라텍 생산지원팀 과제 · 진행 계획 발표</a:t>
            </a:r>
            <a:endParaRPr lang="en-US" sz="2000" dirty="0"/>
          </a:p>
          <a:p>
            <a:pPr marL="0" indent="0">
              <a:buNone/>
            </a:pPr>
            <a:r>
              <a:rPr lang="en-US" sz="1600" dirty="0">
                <a:solidFill>
                  <a:schemeClr val="accent4"/>
                </a:solidFill>
              </a:rPr>
              <a:t>충북대학교 산학협력 프로젝트 · 2026년 11월</a:t>
            </a:r>
            <a:endParaRPr lang="en-US" sz="2000" dirty="0"/>
          </a:p>
        </p:txBody>
      </p:sp>
      <p:sp>
        <p:nvSpPr>
          <p:cNvPr id="4" name="cover dot"/>
          <p:cNvSpPr/>
          <p:nvPr/>
        </p:nvSpPr>
        <p:spPr>
          <a:xfrm>
            <a:off x="548640" y="1188720"/>
            <a:ext cx="640080" cy="640080"/>
          </a:xfrm>
          <a:prstGeom prst="ellipse">
            <a:avLst/>
          </a:prstGeom>
          <a:solidFill>
            <a:schemeClr val="accent1"/>
          </a:solidFill>
          <a:ln w="12700">
            <a:solidFill>
              <a:schemeClr val="accent1"/>
            </a:solidFill>
            <a:prstDash val="solid"/>
          </a:ln>
        </p:spPr>
        <p:txBody>
          <a:bodyPr/>
          <a:lstStyle/>
          <a:p>
            <a:endParaRPr lang="ko-KR"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buNone/>
            </a:pPr>
            <a:r>
              <a:rPr lang="en-US" sz="3000" b="1" dirty="0">
                <a:solidFill>
                  <a:schemeClr val="tx2"/>
                </a:solidFill>
              </a:rPr>
              <a:t>프로젝트</a:t>
            </a:r>
            <a:endParaRPr lang="en-US" sz="3000" dirty="0"/>
          </a:p>
        </p:txBody>
      </p:sp>
      <p:sp>
        <p:nvSpPr>
          <p:cNvPr id="3" name="label problem"/>
          <p:cNvSpPr txBox="1"/>
          <p:nvPr/>
        </p:nvSpPr>
        <p:spPr>
          <a:xfrm>
            <a:off x="548640" y="1325880"/>
            <a:ext cx="5486400" cy="365760"/>
          </a:xfrm>
          <a:prstGeom prst="rect">
            <a:avLst/>
          </a:prstGeom>
          <a:noFill/>
          <a:ln/>
        </p:spPr>
        <p:txBody>
          <a:bodyPr wrap="square" lIns="0" tIns="0" rIns="0" bIns="0" rtlCol="0" anchor="ctr"/>
          <a:lstStyle/>
          <a:p>
            <a:pPr marL="0" indent="0">
              <a:buNone/>
            </a:pPr>
            <a:r>
              <a:rPr lang="en-US" sz="1600" b="1" dirty="0">
                <a:solidFill>
                  <a:schemeClr val="accent1"/>
                </a:solidFill>
              </a:rPr>
              <a:t>생산지원팀의 문제</a:t>
            </a:r>
            <a:endParaRPr lang="en-US" sz="1600" dirty="0"/>
          </a:p>
        </p:txBody>
      </p:sp>
      <p:sp>
        <p:nvSpPr>
          <p:cNvPr id="4" name="tile 0"/>
          <p:cNvSpPr/>
          <p:nvPr/>
        </p:nvSpPr>
        <p:spPr>
          <a:xfrm>
            <a:off x="548640" y="1737360"/>
            <a:ext cx="3514344" cy="1325880"/>
          </a:xfrm>
          <a:prstGeom prst="roundRect">
            <a:avLst>
              <a:gd name="adj" fmla="val 8276"/>
            </a:avLst>
          </a:prstGeom>
          <a:solidFill>
            <a:schemeClr val="bg2"/>
          </a:solidFill>
          <a:ln w="12700">
            <a:solidFill>
              <a:schemeClr val="bg2"/>
            </a:solidFill>
            <a:prstDash val="solid"/>
          </a:ln>
        </p:spPr>
        <p:txBody>
          <a:bodyPr/>
          <a:lstStyle/>
          <a:p>
            <a:endParaRPr lang="ko-KR" altLang="en-US"/>
          </a:p>
        </p:txBody>
      </p:sp>
      <p:sp>
        <p:nvSpPr>
          <p:cNvPr id="5" name="tile big 0"/>
          <p:cNvSpPr txBox="1"/>
          <p:nvPr/>
        </p:nvSpPr>
        <p:spPr>
          <a:xfrm>
            <a:off x="822960" y="1783080"/>
            <a:ext cx="2965704" cy="731520"/>
          </a:xfrm>
          <a:prstGeom prst="rect">
            <a:avLst/>
          </a:prstGeom>
          <a:noFill/>
          <a:ln/>
        </p:spPr>
        <p:txBody>
          <a:bodyPr wrap="square" lIns="0" tIns="0" rIns="0" bIns="0" rtlCol="0" anchor="ctr"/>
          <a:lstStyle/>
          <a:p>
            <a:pPr marL="0" indent="0" algn="l">
              <a:buNone/>
            </a:pPr>
            <a:r>
              <a:rPr lang="en-US" sz="3200" b="1" dirty="0">
                <a:solidFill>
                  <a:schemeClr val="tx2"/>
                </a:solidFill>
              </a:rPr>
              <a:t>주 5회</a:t>
            </a:r>
            <a:endParaRPr lang="en-US" sz="3200" dirty="0"/>
          </a:p>
        </p:txBody>
      </p:sp>
      <p:sp>
        <p:nvSpPr>
          <p:cNvPr id="6" name="tile label 0"/>
          <p:cNvSpPr txBox="1"/>
          <p:nvPr/>
        </p:nvSpPr>
        <p:spPr>
          <a:xfrm>
            <a:off x="822960" y="2487168"/>
            <a:ext cx="2965704" cy="457200"/>
          </a:xfrm>
          <a:prstGeom prst="rect">
            <a:avLst/>
          </a:prstGeom>
          <a:noFill/>
          <a:ln/>
        </p:spPr>
        <p:txBody>
          <a:bodyPr wrap="square" lIns="0" tIns="0" rIns="0" bIns="0" rtlCol="0" anchor="t"/>
          <a:lstStyle/>
          <a:p>
            <a:pPr marL="0" indent="0" algn="l">
              <a:buNone/>
            </a:pPr>
            <a:r>
              <a:rPr lang="en-US" sz="1400" dirty="0">
                <a:solidFill>
                  <a:schemeClr val="tx1"/>
                </a:solidFill>
              </a:rPr>
              <a:t>주간 생산계획이 바뀌는 횟수</a:t>
            </a:r>
            <a:endParaRPr lang="en-US" sz="1400" dirty="0"/>
          </a:p>
        </p:txBody>
      </p:sp>
      <p:sp>
        <p:nvSpPr>
          <p:cNvPr id="7" name="tile 1"/>
          <p:cNvSpPr/>
          <p:nvPr/>
        </p:nvSpPr>
        <p:spPr>
          <a:xfrm>
            <a:off x="4337304" y="1737360"/>
            <a:ext cx="3514344" cy="1325880"/>
          </a:xfrm>
          <a:prstGeom prst="roundRect">
            <a:avLst>
              <a:gd name="adj" fmla="val 8276"/>
            </a:avLst>
          </a:prstGeom>
          <a:solidFill>
            <a:schemeClr val="bg2"/>
          </a:solidFill>
          <a:ln w="12700">
            <a:solidFill>
              <a:schemeClr val="bg2"/>
            </a:solidFill>
            <a:prstDash val="solid"/>
          </a:ln>
        </p:spPr>
        <p:txBody>
          <a:bodyPr/>
          <a:lstStyle/>
          <a:p>
            <a:endParaRPr lang="ko-KR" altLang="en-US"/>
          </a:p>
        </p:txBody>
      </p:sp>
      <p:sp>
        <p:nvSpPr>
          <p:cNvPr id="8" name="tile big 1"/>
          <p:cNvSpPr txBox="1"/>
          <p:nvPr/>
        </p:nvSpPr>
        <p:spPr>
          <a:xfrm>
            <a:off x="4611624" y="1783080"/>
            <a:ext cx="2965704" cy="731520"/>
          </a:xfrm>
          <a:prstGeom prst="rect">
            <a:avLst/>
          </a:prstGeom>
          <a:noFill/>
          <a:ln/>
        </p:spPr>
        <p:txBody>
          <a:bodyPr wrap="square" lIns="0" tIns="0" rIns="0" bIns="0" rtlCol="0" anchor="ctr"/>
          <a:lstStyle/>
          <a:p>
            <a:pPr marL="0" indent="0" algn="l">
              <a:buNone/>
            </a:pPr>
            <a:r>
              <a:rPr lang="en-US" sz="3200" b="1" dirty="0">
                <a:solidFill>
                  <a:schemeClr val="tx2"/>
                </a:solidFill>
              </a:rPr>
              <a:t>하루 2~3회</a:t>
            </a:r>
            <a:endParaRPr lang="en-US" sz="3200" dirty="0"/>
          </a:p>
        </p:txBody>
      </p:sp>
      <p:sp>
        <p:nvSpPr>
          <p:cNvPr id="9" name="tile label 1"/>
          <p:cNvSpPr txBox="1"/>
          <p:nvPr/>
        </p:nvSpPr>
        <p:spPr>
          <a:xfrm>
            <a:off x="4611624" y="2487168"/>
            <a:ext cx="2965704" cy="457200"/>
          </a:xfrm>
          <a:prstGeom prst="rect">
            <a:avLst/>
          </a:prstGeom>
          <a:noFill/>
          <a:ln/>
        </p:spPr>
        <p:txBody>
          <a:bodyPr wrap="square" lIns="0" tIns="0" rIns="0" bIns="0" rtlCol="0" anchor="t"/>
          <a:lstStyle/>
          <a:p>
            <a:pPr marL="0" indent="0" algn="l">
              <a:buNone/>
            </a:pPr>
            <a:r>
              <a:rPr lang="en-US" sz="1400" dirty="0">
                <a:solidFill>
                  <a:schemeClr val="tx1"/>
                </a:solidFill>
              </a:rPr>
              <a:t>계획 변경으로 현장 인원 재배치</a:t>
            </a:r>
            <a:endParaRPr lang="en-US" sz="1400" dirty="0"/>
          </a:p>
        </p:txBody>
      </p:sp>
      <p:sp>
        <p:nvSpPr>
          <p:cNvPr id="10" name="tile 2"/>
          <p:cNvSpPr/>
          <p:nvPr/>
        </p:nvSpPr>
        <p:spPr>
          <a:xfrm>
            <a:off x="8125968" y="1737360"/>
            <a:ext cx="3514344" cy="1325880"/>
          </a:xfrm>
          <a:prstGeom prst="roundRect">
            <a:avLst>
              <a:gd name="adj" fmla="val 8276"/>
            </a:avLst>
          </a:prstGeom>
          <a:solidFill>
            <a:schemeClr val="bg2"/>
          </a:solidFill>
          <a:ln w="12700">
            <a:solidFill>
              <a:schemeClr val="bg2"/>
            </a:solidFill>
            <a:prstDash val="solid"/>
          </a:ln>
        </p:spPr>
        <p:txBody>
          <a:bodyPr/>
          <a:lstStyle/>
          <a:p>
            <a:endParaRPr lang="ko-KR" altLang="en-US"/>
          </a:p>
        </p:txBody>
      </p:sp>
      <p:sp>
        <p:nvSpPr>
          <p:cNvPr id="11" name="tile big 2"/>
          <p:cNvSpPr txBox="1"/>
          <p:nvPr/>
        </p:nvSpPr>
        <p:spPr>
          <a:xfrm>
            <a:off x="8400288" y="1783080"/>
            <a:ext cx="2965704" cy="731520"/>
          </a:xfrm>
          <a:prstGeom prst="rect">
            <a:avLst/>
          </a:prstGeom>
          <a:noFill/>
          <a:ln/>
        </p:spPr>
        <p:txBody>
          <a:bodyPr wrap="square" lIns="0" tIns="0" rIns="0" bIns="0" rtlCol="0" anchor="ctr"/>
          <a:lstStyle/>
          <a:p>
            <a:pPr marL="0" indent="0" algn="l">
              <a:buNone/>
            </a:pPr>
            <a:r>
              <a:rPr lang="en-US" sz="3200" b="1" dirty="0">
                <a:solidFill>
                  <a:schemeClr val="tx2"/>
                </a:solidFill>
              </a:rPr>
              <a:t>긴급</a:t>
            </a:r>
            <a:endParaRPr lang="en-US" sz="3200" dirty="0"/>
          </a:p>
        </p:txBody>
      </p:sp>
      <p:sp>
        <p:nvSpPr>
          <p:cNvPr id="12" name="tile label 2"/>
          <p:cNvSpPr txBox="1"/>
          <p:nvPr/>
        </p:nvSpPr>
        <p:spPr>
          <a:xfrm>
            <a:off x="8400288" y="2487168"/>
            <a:ext cx="2965704" cy="457200"/>
          </a:xfrm>
          <a:prstGeom prst="rect">
            <a:avLst/>
          </a:prstGeom>
          <a:noFill/>
          <a:ln/>
        </p:spPr>
        <p:txBody>
          <a:bodyPr wrap="square" lIns="0" tIns="0" rIns="0" bIns="0" rtlCol="0" anchor="t"/>
          <a:lstStyle/>
          <a:p>
            <a:pPr marL="0" indent="0" algn="l">
              <a:buNone/>
            </a:pPr>
            <a:r>
              <a:rPr lang="en-US" sz="1400" dirty="0">
                <a:solidFill>
                  <a:schemeClr val="tx1"/>
                </a:solidFill>
              </a:rPr>
              <a:t>회사가 지정한 과제 우선순위</a:t>
            </a:r>
            <a:endParaRPr lang="en-US" sz="1400" dirty="0"/>
          </a:p>
        </p:txBody>
      </p:sp>
      <p:sp>
        <p:nvSpPr>
          <p:cNvPr id="14" name="label build"/>
          <p:cNvSpPr txBox="1"/>
          <p:nvPr/>
        </p:nvSpPr>
        <p:spPr>
          <a:xfrm>
            <a:off x="548640" y="3703320"/>
            <a:ext cx="5486400" cy="365760"/>
          </a:xfrm>
          <a:prstGeom prst="rect">
            <a:avLst/>
          </a:prstGeom>
          <a:noFill/>
          <a:ln/>
        </p:spPr>
        <p:txBody>
          <a:bodyPr wrap="square" lIns="0" tIns="0" rIns="0" bIns="0" rtlCol="0" anchor="ctr"/>
          <a:lstStyle/>
          <a:p>
            <a:pPr marL="0" indent="0">
              <a:buNone/>
            </a:pPr>
            <a:r>
              <a:rPr lang="en-US" sz="1600" b="1" dirty="0">
                <a:solidFill>
                  <a:schemeClr val="accent1"/>
                </a:solidFill>
              </a:rPr>
              <a:t>우리가 만들 것</a:t>
            </a:r>
            <a:endParaRPr lang="en-US" sz="1600" dirty="0"/>
          </a:p>
        </p:txBody>
      </p:sp>
      <p:sp>
        <p:nvSpPr>
          <p:cNvPr id="15" name="card 출하예측 엔진"/>
          <p:cNvSpPr/>
          <p:nvPr/>
        </p:nvSpPr>
        <p:spPr>
          <a:xfrm>
            <a:off x="548640" y="4114800"/>
            <a:ext cx="3514344" cy="2148840"/>
          </a:xfrm>
          <a:prstGeom prst="roundRect">
            <a:avLst>
              <a:gd name="adj" fmla="val 5106"/>
            </a:avLst>
          </a:prstGeom>
          <a:solidFill>
            <a:schemeClr val="bg2"/>
          </a:solidFill>
          <a:ln w="12700">
            <a:solidFill>
              <a:schemeClr val="bg2"/>
            </a:solidFill>
            <a:prstDash val="solid"/>
          </a:ln>
        </p:spPr>
        <p:txBody>
          <a:bodyPr/>
          <a:lstStyle/>
          <a:p>
            <a:endParaRPr lang="ko-KR" altLang="en-US"/>
          </a:p>
        </p:txBody>
      </p:sp>
      <p:sp>
        <p:nvSpPr>
          <p:cNvPr id="16" name="num 1"/>
          <p:cNvSpPr/>
          <p:nvPr/>
        </p:nvSpPr>
        <p:spPr>
          <a:xfrm>
            <a:off x="777240" y="434340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17" name="num text 1"/>
          <p:cNvSpPr txBox="1"/>
          <p:nvPr/>
        </p:nvSpPr>
        <p:spPr>
          <a:xfrm>
            <a:off x="777240" y="43434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8" name="card title 출하예측 엔진"/>
          <p:cNvSpPr txBox="1"/>
          <p:nvPr/>
        </p:nvSpPr>
        <p:spPr>
          <a:xfrm>
            <a:off x="1417320" y="4315968"/>
            <a:ext cx="2417064" cy="566928"/>
          </a:xfrm>
          <a:prstGeom prst="rect">
            <a:avLst/>
          </a:prstGeom>
          <a:noFill/>
          <a:ln/>
        </p:spPr>
        <p:txBody>
          <a:bodyPr wrap="square" lIns="0" tIns="0" rIns="0" bIns="0" rtlCol="0" anchor="ctr"/>
          <a:lstStyle/>
          <a:p>
            <a:pPr marL="0" indent="0">
              <a:buNone/>
            </a:pPr>
            <a:r>
              <a:rPr lang="en-US" sz="1800" b="1" dirty="0">
                <a:solidFill>
                  <a:schemeClr val="tx2"/>
                </a:solidFill>
              </a:rPr>
              <a:t>출하예측 엔진</a:t>
            </a:r>
            <a:endParaRPr lang="en-US" sz="1800" dirty="0"/>
          </a:p>
        </p:txBody>
      </p:sp>
      <p:sp>
        <p:nvSpPr>
          <p:cNvPr id="19" name="card body 출하예측 엔진"/>
          <p:cNvSpPr txBox="1"/>
          <p:nvPr/>
        </p:nvSpPr>
        <p:spPr>
          <a:xfrm>
            <a:off x="822960" y="4983480"/>
            <a:ext cx="2965704" cy="10972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5년 출고 이력으로 품목·거래처별 다음 주 수요를 예측</a:t>
            </a:r>
            <a:endParaRPr lang="en-US" sz="1400" dirty="0"/>
          </a:p>
        </p:txBody>
      </p:sp>
      <p:sp>
        <p:nvSpPr>
          <p:cNvPr id="20" name="card 주간 계획 · 재고 보드"/>
          <p:cNvSpPr/>
          <p:nvPr/>
        </p:nvSpPr>
        <p:spPr>
          <a:xfrm>
            <a:off x="4337304" y="4114800"/>
            <a:ext cx="3514344" cy="2148840"/>
          </a:xfrm>
          <a:prstGeom prst="roundRect">
            <a:avLst>
              <a:gd name="adj" fmla="val 5106"/>
            </a:avLst>
          </a:prstGeom>
          <a:solidFill>
            <a:schemeClr val="bg2"/>
          </a:solidFill>
          <a:ln w="12700">
            <a:solidFill>
              <a:schemeClr val="bg2"/>
            </a:solidFill>
            <a:prstDash val="solid"/>
          </a:ln>
        </p:spPr>
        <p:txBody>
          <a:bodyPr/>
          <a:lstStyle/>
          <a:p>
            <a:endParaRPr lang="ko-KR" altLang="en-US"/>
          </a:p>
        </p:txBody>
      </p:sp>
      <p:sp>
        <p:nvSpPr>
          <p:cNvPr id="21" name="num 2"/>
          <p:cNvSpPr/>
          <p:nvPr/>
        </p:nvSpPr>
        <p:spPr>
          <a:xfrm>
            <a:off x="4565904" y="434340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22" name="num text 2"/>
          <p:cNvSpPr txBox="1"/>
          <p:nvPr/>
        </p:nvSpPr>
        <p:spPr>
          <a:xfrm>
            <a:off x="4565904" y="43434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23" name="card title 주간 계획 · 재고 보드"/>
          <p:cNvSpPr txBox="1"/>
          <p:nvPr/>
        </p:nvSpPr>
        <p:spPr>
          <a:xfrm>
            <a:off x="5205984" y="4315968"/>
            <a:ext cx="2417064" cy="566928"/>
          </a:xfrm>
          <a:prstGeom prst="rect">
            <a:avLst/>
          </a:prstGeom>
          <a:noFill/>
          <a:ln/>
        </p:spPr>
        <p:txBody>
          <a:bodyPr wrap="square" lIns="0" tIns="0" rIns="0" bIns="0" rtlCol="0" anchor="ctr"/>
          <a:lstStyle/>
          <a:p>
            <a:pPr marL="0" indent="0">
              <a:buNone/>
            </a:pPr>
            <a:r>
              <a:rPr lang="en-US" sz="1800" b="1" dirty="0">
                <a:solidFill>
                  <a:schemeClr val="tx2"/>
                </a:solidFill>
              </a:rPr>
              <a:t>주간 계획 · 재고 보드</a:t>
            </a:r>
            <a:endParaRPr lang="en-US" sz="1800" dirty="0"/>
          </a:p>
        </p:txBody>
      </p:sp>
      <p:sp>
        <p:nvSpPr>
          <p:cNvPr id="24" name="card body 주간 계획 · 재고 보드"/>
          <p:cNvSpPr txBox="1"/>
          <p:nvPr/>
        </p:nvSpPr>
        <p:spPr>
          <a:xfrm>
            <a:off x="4611624" y="4983480"/>
            <a:ext cx="2965704" cy="10972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예측값이 제안으로 채워지는 계획 화면과 가용재고 보드</a:t>
            </a:r>
            <a:endParaRPr lang="en-US" sz="1400" dirty="0"/>
          </a:p>
        </p:txBody>
      </p:sp>
      <p:sp>
        <p:nvSpPr>
          <p:cNvPr id="25" name="card 변경 이력"/>
          <p:cNvSpPr/>
          <p:nvPr/>
        </p:nvSpPr>
        <p:spPr>
          <a:xfrm>
            <a:off x="8125968" y="4114800"/>
            <a:ext cx="3514344" cy="2148840"/>
          </a:xfrm>
          <a:prstGeom prst="roundRect">
            <a:avLst>
              <a:gd name="adj" fmla="val 5106"/>
            </a:avLst>
          </a:prstGeom>
          <a:solidFill>
            <a:schemeClr val="bg2"/>
          </a:solidFill>
          <a:ln w="12700">
            <a:solidFill>
              <a:schemeClr val="bg2"/>
            </a:solidFill>
            <a:prstDash val="solid"/>
          </a:ln>
        </p:spPr>
        <p:txBody>
          <a:bodyPr/>
          <a:lstStyle/>
          <a:p>
            <a:endParaRPr lang="ko-KR" altLang="en-US"/>
          </a:p>
        </p:txBody>
      </p:sp>
      <p:sp>
        <p:nvSpPr>
          <p:cNvPr id="26" name="num 3"/>
          <p:cNvSpPr/>
          <p:nvPr/>
        </p:nvSpPr>
        <p:spPr>
          <a:xfrm>
            <a:off x="8354568" y="434340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27" name="num text 3"/>
          <p:cNvSpPr txBox="1"/>
          <p:nvPr/>
        </p:nvSpPr>
        <p:spPr>
          <a:xfrm>
            <a:off x="8354568" y="43434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8" name="card title 변경 이력"/>
          <p:cNvSpPr txBox="1"/>
          <p:nvPr/>
        </p:nvSpPr>
        <p:spPr>
          <a:xfrm>
            <a:off x="8994648" y="4315968"/>
            <a:ext cx="2417064" cy="566928"/>
          </a:xfrm>
          <a:prstGeom prst="rect">
            <a:avLst/>
          </a:prstGeom>
          <a:noFill/>
          <a:ln/>
        </p:spPr>
        <p:txBody>
          <a:bodyPr wrap="square" lIns="0" tIns="0" rIns="0" bIns="0" rtlCol="0" anchor="ctr"/>
          <a:lstStyle/>
          <a:p>
            <a:pPr marL="0" indent="0">
              <a:buNone/>
            </a:pPr>
            <a:r>
              <a:rPr lang="en-US" sz="1800" b="1" dirty="0">
                <a:solidFill>
                  <a:schemeClr val="tx2"/>
                </a:solidFill>
              </a:rPr>
              <a:t>변경 이력</a:t>
            </a:r>
            <a:endParaRPr lang="en-US" sz="1800" dirty="0"/>
          </a:p>
        </p:txBody>
      </p:sp>
      <p:sp>
        <p:nvSpPr>
          <p:cNvPr id="29" name="card body 변경 이력"/>
          <p:cNvSpPr txBox="1"/>
          <p:nvPr/>
        </p:nvSpPr>
        <p:spPr>
          <a:xfrm>
            <a:off x="8400288" y="4983480"/>
            <a:ext cx="2965704" cy="10972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계획이 바뀔 때마다 누가·언제·왜 바꿨는지 기록</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buNone/>
            </a:pPr>
            <a:r>
              <a:rPr lang="en-US" sz="3000" b="1" dirty="0">
                <a:solidFill>
                  <a:schemeClr val="tx2"/>
                </a:solidFill>
              </a:rPr>
              <a:t>데이터 분석</a:t>
            </a:r>
            <a:endParaRPr lang="en-US" sz="3000" dirty="0"/>
          </a:p>
        </p:txBody>
      </p:sp>
      <p:sp>
        <p:nvSpPr>
          <p:cNvPr id="3" name="stat 2021~2025 실적"/>
          <p:cNvSpPr txBox="1"/>
          <p:nvPr/>
        </p:nvSpPr>
        <p:spPr>
          <a:xfrm>
            <a:off x="548640" y="1463040"/>
            <a:ext cx="1828800" cy="731520"/>
          </a:xfrm>
          <a:prstGeom prst="rect">
            <a:avLst/>
          </a:prstGeom>
          <a:noFill/>
          <a:ln/>
        </p:spPr>
        <p:txBody>
          <a:bodyPr wrap="square" lIns="0" tIns="0" rIns="0" bIns="0" rtlCol="0" anchor="b"/>
          <a:lstStyle/>
          <a:p>
            <a:pPr marL="0" indent="0" algn="ctr">
              <a:buNone/>
            </a:pPr>
            <a:r>
              <a:rPr lang="en-US" sz="3400" b="1" dirty="0">
                <a:solidFill>
                  <a:schemeClr val="tx2"/>
                </a:solidFill>
              </a:rPr>
              <a:t>5년</a:t>
            </a:r>
            <a:endParaRPr lang="en-US" sz="3400" dirty="0"/>
          </a:p>
        </p:txBody>
      </p:sp>
      <p:sp>
        <p:nvSpPr>
          <p:cNvPr id="4" name="stat label 2021~2025 실적"/>
          <p:cNvSpPr txBox="1"/>
          <p:nvPr/>
        </p:nvSpPr>
        <p:spPr>
          <a:xfrm>
            <a:off x="548640" y="2194560"/>
            <a:ext cx="1828800" cy="411480"/>
          </a:xfrm>
          <a:prstGeom prst="rect">
            <a:avLst/>
          </a:prstGeom>
          <a:noFill/>
          <a:ln/>
        </p:spPr>
        <p:txBody>
          <a:bodyPr wrap="square" lIns="0" tIns="0" rIns="0" bIns="0" rtlCol="0" anchor="t"/>
          <a:lstStyle/>
          <a:p>
            <a:pPr marL="0" indent="0" algn="ctr">
              <a:buNone/>
            </a:pPr>
            <a:r>
              <a:rPr lang="en-US" sz="1400" dirty="0">
                <a:solidFill>
                  <a:schemeClr val="tx1"/>
                </a:solidFill>
              </a:rPr>
              <a:t>2021~2025 실적</a:t>
            </a:r>
            <a:endParaRPr lang="en-US" sz="1400" dirty="0"/>
          </a:p>
        </p:txBody>
      </p:sp>
      <p:sp>
        <p:nvSpPr>
          <p:cNvPr id="5" name="stat 판매·생산 기록(건)"/>
          <p:cNvSpPr txBox="1"/>
          <p:nvPr/>
        </p:nvSpPr>
        <p:spPr>
          <a:xfrm>
            <a:off x="2377440" y="1463040"/>
            <a:ext cx="1828800" cy="731520"/>
          </a:xfrm>
          <a:prstGeom prst="rect">
            <a:avLst/>
          </a:prstGeom>
          <a:noFill/>
          <a:ln/>
        </p:spPr>
        <p:txBody>
          <a:bodyPr wrap="square" lIns="0" tIns="0" rIns="0" bIns="0" rtlCol="0" anchor="b"/>
          <a:lstStyle/>
          <a:p>
            <a:pPr marL="0" indent="0" algn="ctr">
              <a:buNone/>
            </a:pPr>
            <a:r>
              <a:rPr lang="en-US" sz="3400" b="1" dirty="0">
                <a:solidFill>
                  <a:schemeClr val="accent1"/>
                </a:solidFill>
              </a:rPr>
              <a:t>14.6만</a:t>
            </a:r>
            <a:endParaRPr lang="en-US" sz="3400" dirty="0"/>
          </a:p>
        </p:txBody>
      </p:sp>
      <p:sp>
        <p:nvSpPr>
          <p:cNvPr id="6" name="stat label 판매·생산 기록(건)"/>
          <p:cNvSpPr txBox="1"/>
          <p:nvPr/>
        </p:nvSpPr>
        <p:spPr>
          <a:xfrm>
            <a:off x="2377440" y="2194560"/>
            <a:ext cx="1828800" cy="411480"/>
          </a:xfrm>
          <a:prstGeom prst="rect">
            <a:avLst/>
          </a:prstGeom>
          <a:noFill/>
          <a:ln/>
        </p:spPr>
        <p:txBody>
          <a:bodyPr wrap="square" lIns="0" tIns="0" rIns="0" bIns="0" rtlCol="0" anchor="t"/>
          <a:lstStyle/>
          <a:p>
            <a:pPr marL="0" indent="0" algn="ctr">
              <a:buNone/>
            </a:pPr>
            <a:r>
              <a:rPr lang="en-US" sz="1400" dirty="0">
                <a:solidFill>
                  <a:schemeClr val="tx1"/>
                </a:solidFill>
              </a:rPr>
              <a:t>판매·생산 기록(건)</a:t>
            </a:r>
            <a:endParaRPr lang="en-US" sz="1400" dirty="0"/>
          </a:p>
        </p:txBody>
      </p:sp>
      <p:sp>
        <p:nvSpPr>
          <p:cNvPr id="7" name="stat 2025년 출고량(개)"/>
          <p:cNvSpPr txBox="1"/>
          <p:nvPr/>
        </p:nvSpPr>
        <p:spPr>
          <a:xfrm>
            <a:off x="4206240" y="1463040"/>
            <a:ext cx="1828800" cy="731520"/>
          </a:xfrm>
          <a:prstGeom prst="rect">
            <a:avLst/>
          </a:prstGeom>
          <a:noFill/>
          <a:ln/>
        </p:spPr>
        <p:txBody>
          <a:bodyPr wrap="square" lIns="0" tIns="0" rIns="0" bIns="0" rtlCol="0" anchor="b"/>
          <a:lstStyle/>
          <a:p>
            <a:pPr marL="0" indent="0" algn="ctr">
              <a:buNone/>
            </a:pPr>
            <a:r>
              <a:rPr lang="en-US" sz="3400" b="1" dirty="0">
                <a:solidFill>
                  <a:schemeClr val="tx2"/>
                </a:solidFill>
              </a:rPr>
              <a:t>3.9억</a:t>
            </a:r>
            <a:endParaRPr lang="en-US" sz="3400" dirty="0"/>
          </a:p>
        </p:txBody>
      </p:sp>
      <p:sp>
        <p:nvSpPr>
          <p:cNvPr id="8" name="stat label 2025년 출고량(개)"/>
          <p:cNvSpPr txBox="1"/>
          <p:nvPr/>
        </p:nvSpPr>
        <p:spPr>
          <a:xfrm>
            <a:off x="4206240" y="2194560"/>
            <a:ext cx="1828800" cy="411480"/>
          </a:xfrm>
          <a:prstGeom prst="rect">
            <a:avLst/>
          </a:prstGeom>
          <a:noFill/>
          <a:ln/>
        </p:spPr>
        <p:txBody>
          <a:bodyPr wrap="square" lIns="0" tIns="0" rIns="0" bIns="0" rtlCol="0" anchor="t"/>
          <a:lstStyle/>
          <a:p>
            <a:pPr marL="0" indent="0" algn="ctr">
              <a:buNone/>
            </a:pPr>
            <a:r>
              <a:rPr lang="en-US" sz="1400" dirty="0">
                <a:solidFill>
                  <a:schemeClr val="tx1"/>
                </a:solidFill>
              </a:rPr>
              <a:t>2025년 출고량(개)</a:t>
            </a:r>
            <a:endParaRPr lang="en-US" sz="1400" dirty="0"/>
          </a:p>
        </p:txBody>
      </p:sp>
      <p:graphicFrame>
        <p:nvGraphicFramePr>
          <p:cNvPr id="9" name="Chart 0"/>
          <p:cNvGraphicFramePr/>
          <p:nvPr/>
        </p:nvGraphicFramePr>
        <p:xfrm>
          <a:off x="822960" y="2834640"/>
          <a:ext cx="49377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0" name="card 예측 대상은 생각보다 좁다"/>
          <p:cNvSpPr/>
          <p:nvPr/>
        </p:nvSpPr>
        <p:spPr>
          <a:xfrm>
            <a:off x="6400800" y="1417320"/>
            <a:ext cx="5239512" cy="1463040"/>
          </a:xfrm>
          <a:prstGeom prst="roundRect">
            <a:avLst>
              <a:gd name="adj" fmla="val 7500"/>
            </a:avLst>
          </a:prstGeom>
          <a:solidFill>
            <a:schemeClr val="bg2"/>
          </a:solidFill>
          <a:ln w="12700">
            <a:solidFill>
              <a:schemeClr val="bg2"/>
            </a:solidFill>
            <a:prstDash val="solid"/>
          </a:ln>
        </p:spPr>
        <p:txBody>
          <a:bodyPr/>
          <a:lstStyle/>
          <a:p>
            <a:endParaRPr lang="ko-KR" altLang="en-US"/>
          </a:p>
        </p:txBody>
      </p:sp>
      <p:sp>
        <p:nvSpPr>
          <p:cNvPr id="11" name="num 1"/>
          <p:cNvSpPr/>
          <p:nvPr/>
        </p:nvSpPr>
        <p:spPr>
          <a:xfrm>
            <a:off x="6629400" y="164592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12" name="num text 1"/>
          <p:cNvSpPr txBox="1"/>
          <p:nvPr/>
        </p:nvSpPr>
        <p:spPr>
          <a:xfrm>
            <a:off x="6629400" y="16459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3" name="card title 예측 대상은 생각보다 좁다"/>
          <p:cNvSpPr txBox="1"/>
          <p:nvPr/>
        </p:nvSpPr>
        <p:spPr>
          <a:xfrm>
            <a:off x="7269480" y="1618488"/>
            <a:ext cx="4142232" cy="566928"/>
          </a:xfrm>
          <a:prstGeom prst="rect">
            <a:avLst/>
          </a:prstGeom>
          <a:noFill/>
          <a:ln/>
        </p:spPr>
        <p:txBody>
          <a:bodyPr wrap="square" lIns="0" tIns="0" rIns="0" bIns="0" rtlCol="0" anchor="ctr"/>
          <a:lstStyle/>
          <a:p>
            <a:pPr marL="0" indent="0">
              <a:buNone/>
            </a:pPr>
            <a:r>
              <a:rPr lang="en-US" sz="1800" b="1" dirty="0">
                <a:solidFill>
                  <a:schemeClr val="tx2"/>
                </a:solidFill>
              </a:rPr>
              <a:t>예측 대상은 생각보다 좁다</a:t>
            </a:r>
            <a:endParaRPr lang="en-US" sz="1800" dirty="0"/>
          </a:p>
        </p:txBody>
      </p:sp>
      <p:sp>
        <p:nvSpPr>
          <p:cNvPr id="14" name="card body 예측 대상은 생각보다 좁다"/>
          <p:cNvSpPr txBox="1"/>
          <p:nvPr/>
        </p:nvSpPr>
        <p:spPr>
          <a:xfrm>
            <a:off x="6675120" y="2286000"/>
            <a:ext cx="4690872" cy="411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물량의 56%는 월말 일괄 전표 품목(음성 생산 추정). 청주 생산 품목 329개 중 79개가 물량의 80%</a:t>
            </a:r>
            <a:endParaRPr lang="en-US" sz="1400" dirty="0"/>
          </a:p>
        </p:txBody>
      </p:sp>
      <p:sp>
        <p:nvSpPr>
          <p:cNvPr id="15" name="card 품번은 바뀌어도 품종은 안정적"/>
          <p:cNvSpPr/>
          <p:nvPr/>
        </p:nvSpPr>
        <p:spPr>
          <a:xfrm>
            <a:off x="6400800" y="3017520"/>
            <a:ext cx="5239512" cy="1463040"/>
          </a:xfrm>
          <a:prstGeom prst="roundRect">
            <a:avLst>
              <a:gd name="adj" fmla="val 7500"/>
            </a:avLst>
          </a:prstGeom>
          <a:solidFill>
            <a:schemeClr val="bg2"/>
          </a:solidFill>
          <a:ln w="12700">
            <a:solidFill>
              <a:schemeClr val="bg2"/>
            </a:solidFill>
            <a:prstDash val="solid"/>
          </a:ln>
        </p:spPr>
        <p:txBody>
          <a:bodyPr/>
          <a:lstStyle/>
          <a:p>
            <a:endParaRPr lang="ko-KR" altLang="en-US"/>
          </a:p>
        </p:txBody>
      </p:sp>
      <p:sp>
        <p:nvSpPr>
          <p:cNvPr id="16" name="num 2"/>
          <p:cNvSpPr/>
          <p:nvPr/>
        </p:nvSpPr>
        <p:spPr>
          <a:xfrm>
            <a:off x="6629400" y="324612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17" name="num text 2"/>
          <p:cNvSpPr txBox="1"/>
          <p:nvPr/>
        </p:nvSpPr>
        <p:spPr>
          <a:xfrm>
            <a:off x="6629400" y="32461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8" name="card title 품번은 바뀌어도 품종은 안정적"/>
          <p:cNvSpPr txBox="1"/>
          <p:nvPr/>
        </p:nvSpPr>
        <p:spPr>
          <a:xfrm>
            <a:off x="7269480" y="3218688"/>
            <a:ext cx="4142232" cy="566928"/>
          </a:xfrm>
          <a:prstGeom prst="rect">
            <a:avLst/>
          </a:prstGeom>
          <a:noFill/>
          <a:ln/>
        </p:spPr>
        <p:txBody>
          <a:bodyPr wrap="square" lIns="0" tIns="0" rIns="0" bIns="0" rtlCol="0" anchor="ctr"/>
          <a:lstStyle/>
          <a:p>
            <a:pPr marL="0" indent="0">
              <a:buNone/>
            </a:pPr>
            <a:r>
              <a:rPr lang="en-US" sz="1800" b="1" dirty="0">
                <a:solidFill>
                  <a:schemeClr val="tx2"/>
                </a:solidFill>
              </a:rPr>
              <a:t>품번은 바뀌어도 품종은 안정적</a:t>
            </a:r>
            <a:endParaRPr lang="en-US" sz="1800" dirty="0"/>
          </a:p>
        </p:txBody>
      </p:sp>
      <p:sp>
        <p:nvSpPr>
          <p:cNvPr id="19" name="card body 품번은 바뀌어도 품종은 안정적"/>
          <p:cNvSpPr txBox="1"/>
          <p:nvPr/>
        </p:nvSpPr>
        <p:spPr>
          <a:xfrm>
            <a:off x="6675120" y="3886200"/>
            <a:ext cx="4690872" cy="411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상위 79개 중 작년에도 있던 것은 28개뿐. 금형 계열인 품종·거래처 단위로 이력을 잇는다</a:t>
            </a:r>
            <a:endParaRPr lang="en-US" sz="1400" dirty="0"/>
          </a:p>
        </p:txBody>
      </p:sp>
      <p:sp>
        <p:nvSpPr>
          <p:cNvPr id="20" name="card 2024년 7월, 1공장이 멈췄다"/>
          <p:cNvSpPr/>
          <p:nvPr/>
        </p:nvSpPr>
        <p:spPr>
          <a:xfrm>
            <a:off x="6400800" y="4617720"/>
            <a:ext cx="5239512" cy="1508760"/>
          </a:xfrm>
          <a:prstGeom prst="roundRect">
            <a:avLst>
              <a:gd name="adj" fmla="val 7273"/>
            </a:avLst>
          </a:prstGeom>
          <a:solidFill>
            <a:schemeClr val="bg2"/>
          </a:solidFill>
          <a:ln w="12700">
            <a:solidFill>
              <a:schemeClr val="bg2"/>
            </a:solidFill>
            <a:prstDash val="solid"/>
          </a:ln>
        </p:spPr>
        <p:txBody>
          <a:bodyPr/>
          <a:lstStyle/>
          <a:p>
            <a:endParaRPr lang="ko-KR" altLang="en-US"/>
          </a:p>
        </p:txBody>
      </p:sp>
      <p:sp>
        <p:nvSpPr>
          <p:cNvPr id="21" name="num 3"/>
          <p:cNvSpPr/>
          <p:nvPr/>
        </p:nvSpPr>
        <p:spPr>
          <a:xfrm>
            <a:off x="6629400" y="484632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22" name="num text 3"/>
          <p:cNvSpPr txBox="1"/>
          <p:nvPr/>
        </p:nvSpPr>
        <p:spPr>
          <a:xfrm>
            <a:off x="6629400" y="48463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3" name="card title 2024년 7월, 1공장이 멈췄다"/>
          <p:cNvSpPr txBox="1"/>
          <p:nvPr/>
        </p:nvSpPr>
        <p:spPr>
          <a:xfrm>
            <a:off x="7269480" y="4818888"/>
            <a:ext cx="4142232" cy="566928"/>
          </a:xfrm>
          <a:prstGeom prst="rect">
            <a:avLst/>
          </a:prstGeom>
          <a:noFill/>
          <a:ln/>
        </p:spPr>
        <p:txBody>
          <a:bodyPr wrap="square" lIns="0" tIns="0" rIns="0" bIns="0" rtlCol="0" anchor="ctr"/>
          <a:lstStyle/>
          <a:p>
            <a:pPr marL="0" indent="0">
              <a:buNone/>
            </a:pPr>
            <a:r>
              <a:rPr lang="en-US" sz="1800" b="1" dirty="0">
                <a:solidFill>
                  <a:schemeClr val="tx2"/>
                </a:solidFill>
              </a:rPr>
              <a:t>2024년 7월, 1공장이 멈췄다</a:t>
            </a:r>
            <a:endParaRPr lang="en-US" sz="1800" dirty="0"/>
          </a:p>
        </p:txBody>
      </p:sp>
      <p:sp>
        <p:nvSpPr>
          <p:cNvPr id="24" name="card body 2024년 7월, 1공장이 멈췄다"/>
          <p:cNvSpPr txBox="1"/>
          <p:nvPr/>
        </p:nvSpPr>
        <p:spPr>
          <a:xfrm>
            <a:off x="6675120" y="5486400"/>
            <a:ext cx="4690872" cy="457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7월 7일 이후 PE팀 생산 정지, PET1팀도 10분의 1 수준으로 급감. 7월 8일 오창 공장 화재 보도. 2025년 새 설비로 재가동. 이 구간은 학습에서 뺀다</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buNone/>
            </a:pPr>
            <a:r>
              <a:rPr lang="en-US" sz="3000" b="1" dirty="0">
                <a:solidFill>
                  <a:schemeClr val="tx2"/>
                </a:solidFill>
              </a:rPr>
              <a:t>예측 방법과 검증</a:t>
            </a:r>
            <a:endParaRPr lang="en-US" sz="3000" dirty="0"/>
          </a:p>
        </p:txBody>
      </p:sp>
      <p:sp>
        <p:nvSpPr>
          <p:cNvPr id="3" name="card 꾸준한 품목"/>
          <p:cNvSpPr/>
          <p:nvPr/>
        </p:nvSpPr>
        <p:spPr>
          <a:xfrm>
            <a:off x="548640" y="1417320"/>
            <a:ext cx="3520440" cy="2468880"/>
          </a:xfrm>
          <a:prstGeom prst="roundRect">
            <a:avLst>
              <a:gd name="adj" fmla="val 4444"/>
            </a:avLst>
          </a:prstGeom>
          <a:solidFill>
            <a:schemeClr val="bg2"/>
          </a:solidFill>
          <a:ln w="12700">
            <a:solidFill>
              <a:schemeClr val="bg2"/>
            </a:solidFill>
            <a:prstDash val="solid"/>
          </a:ln>
        </p:spPr>
        <p:txBody>
          <a:bodyPr/>
          <a:lstStyle/>
          <a:p>
            <a:endParaRPr lang="ko-KR" altLang="en-US"/>
          </a:p>
        </p:txBody>
      </p:sp>
      <p:sp>
        <p:nvSpPr>
          <p:cNvPr id="4" name="num A"/>
          <p:cNvSpPr/>
          <p:nvPr/>
        </p:nvSpPr>
        <p:spPr>
          <a:xfrm>
            <a:off x="777240" y="164592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5" name="num text A"/>
          <p:cNvSpPr txBox="1"/>
          <p:nvPr/>
        </p:nvSpPr>
        <p:spPr>
          <a:xfrm>
            <a:off x="777240" y="16459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A</a:t>
            </a:r>
            <a:endParaRPr lang="en-US" sz="1800" dirty="0"/>
          </a:p>
        </p:txBody>
      </p:sp>
      <p:sp>
        <p:nvSpPr>
          <p:cNvPr id="6" name="card title 꾸준한 품목"/>
          <p:cNvSpPr txBox="1"/>
          <p:nvPr/>
        </p:nvSpPr>
        <p:spPr>
          <a:xfrm>
            <a:off x="1417320" y="1618488"/>
            <a:ext cx="2423160" cy="566928"/>
          </a:xfrm>
          <a:prstGeom prst="rect">
            <a:avLst/>
          </a:prstGeom>
          <a:noFill/>
          <a:ln/>
        </p:spPr>
        <p:txBody>
          <a:bodyPr wrap="square" lIns="0" tIns="0" rIns="0" bIns="0" rtlCol="0" anchor="ctr"/>
          <a:lstStyle/>
          <a:p>
            <a:pPr marL="0" indent="0">
              <a:buNone/>
            </a:pPr>
            <a:r>
              <a:rPr lang="en-US" sz="1800" b="1" dirty="0">
                <a:solidFill>
                  <a:schemeClr val="tx2"/>
                </a:solidFill>
              </a:rPr>
              <a:t>꾸준한 품목</a:t>
            </a:r>
            <a:endParaRPr lang="en-US" sz="1800" dirty="0"/>
          </a:p>
        </p:txBody>
      </p:sp>
      <p:sp>
        <p:nvSpPr>
          <p:cNvPr id="7" name="card body 꾸준한 품목"/>
          <p:cNvSpPr txBox="1"/>
          <p:nvPr/>
        </p:nvSpPr>
        <p:spPr>
          <a:xfrm>
            <a:off x="822960" y="2286000"/>
            <a:ext cx="2971800" cy="1417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거의 매주 출고 (참이슬 1.8L, 대상 간장)</a:t>
            </a:r>
            <a:endParaRPr lang="en-US" sz="1400" dirty="0"/>
          </a:p>
          <a:p>
            <a:pPr marL="177800" indent="-177800">
              <a:spcAft>
                <a:spcPts val="600"/>
              </a:spcAft>
              <a:buSzPct val="100000"/>
              <a:buChar char="•"/>
            </a:pPr>
            <a:r>
              <a:rPr lang="en-US" sz="1400" dirty="0">
                <a:solidFill>
                  <a:schemeClr val="tx1"/>
                </a:solidFill>
              </a:rPr>
              <a:t>주 단위 시계열 예측 (계절·추세)</a:t>
            </a:r>
            <a:endParaRPr lang="en-US" sz="1400" dirty="0"/>
          </a:p>
        </p:txBody>
      </p:sp>
      <p:sp>
        <p:nvSpPr>
          <p:cNvPr id="8" name="card 몰아서 나가는 품목"/>
          <p:cNvSpPr/>
          <p:nvPr/>
        </p:nvSpPr>
        <p:spPr>
          <a:xfrm>
            <a:off x="4343400" y="1417320"/>
            <a:ext cx="3520440" cy="2468880"/>
          </a:xfrm>
          <a:prstGeom prst="roundRect">
            <a:avLst>
              <a:gd name="adj" fmla="val 4444"/>
            </a:avLst>
          </a:prstGeom>
          <a:solidFill>
            <a:schemeClr val="bg2"/>
          </a:solidFill>
          <a:ln w="12700">
            <a:solidFill>
              <a:schemeClr val="bg2"/>
            </a:solidFill>
            <a:prstDash val="solid"/>
          </a:ln>
        </p:spPr>
        <p:txBody>
          <a:bodyPr/>
          <a:lstStyle/>
          <a:p>
            <a:endParaRPr lang="ko-KR" altLang="en-US"/>
          </a:p>
        </p:txBody>
      </p:sp>
      <p:sp>
        <p:nvSpPr>
          <p:cNvPr id="9" name="num B"/>
          <p:cNvSpPr/>
          <p:nvPr/>
        </p:nvSpPr>
        <p:spPr>
          <a:xfrm>
            <a:off x="4572000" y="164592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10" name="num text B"/>
          <p:cNvSpPr txBox="1"/>
          <p:nvPr/>
        </p:nvSpPr>
        <p:spPr>
          <a:xfrm>
            <a:off x="4572000" y="16459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B</a:t>
            </a:r>
            <a:endParaRPr lang="en-US" sz="1800" dirty="0"/>
          </a:p>
        </p:txBody>
      </p:sp>
      <p:sp>
        <p:nvSpPr>
          <p:cNvPr id="11" name="card title 몰아서 나가는 품목"/>
          <p:cNvSpPr txBox="1"/>
          <p:nvPr/>
        </p:nvSpPr>
        <p:spPr>
          <a:xfrm>
            <a:off x="5212080" y="1618488"/>
            <a:ext cx="2423160" cy="566928"/>
          </a:xfrm>
          <a:prstGeom prst="rect">
            <a:avLst/>
          </a:prstGeom>
          <a:noFill/>
          <a:ln/>
        </p:spPr>
        <p:txBody>
          <a:bodyPr wrap="square" lIns="0" tIns="0" rIns="0" bIns="0" rtlCol="0" anchor="ctr"/>
          <a:lstStyle/>
          <a:p>
            <a:pPr marL="0" indent="0">
              <a:buNone/>
            </a:pPr>
            <a:r>
              <a:rPr lang="en-US" sz="1800" b="1" dirty="0">
                <a:solidFill>
                  <a:schemeClr val="tx2"/>
                </a:solidFill>
              </a:rPr>
              <a:t>몰아서 나가는 품목</a:t>
            </a:r>
            <a:endParaRPr lang="en-US" sz="1800" dirty="0"/>
          </a:p>
        </p:txBody>
      </p:sp>
      <p:sp>
        <p:nvSpPr>
          <p:cNvPr id="12" name="card body 몰아서 나가는 품목"/>
          <p:cNvSpPr txBox="1"/>
          <p:nvPr/>
        </p:nvSpPr>
        <p:spPr>
          <a:xfrm>
            <a:off x="4617720" y="2286000"/>
            <a:ext cx="2971800" cy="1417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1~2주에 한 번 큰 로트 (롯데 미림, CJ 올리고당)</a:t>
            </a:r>
            <a:endParaRPr lang="en-US" sz="1400" dirty="0"/>
          </a:p>
          <a:p>
            <a:pPr marL="177800" indent="-177800">
              <a:spcAft>
                <a:spcPts val="600"/>
              </a:spcAft>
              <a:buSzPct val="100000"/>
              <a:buChar char="•"/>
            </a:pPr>
            <a:r>
              <a:rPr lang="en-US" sz="1400" dirty="0">
                <a:solidFill>
                  <a:schemeClr val="tx1"/>
                </a:solidFill>
              </a:rPr>
              <a:t>다음 주문 시점·로트 크기 예측</a:t>
            </a:r>
            <a:endParaRPr lang="en-US" sz="1400" dirty="0"/>
          </a:p>
        </p:txBody>
      </p:sp>
      <p:sp>
        <p:nvSpPr>
          <p:cNvPr id="13" name="card 월 1회 품목"/>
          <p:cNvSpPr/>
          <p:nvPr/>
        </p:nvSpPr>
        <p:spPr>
          <a:xfrm>
            <a:off x="8138160" y="1417320"/>
            <a:ext cx="3520440" cy="2468880"/>
          </a:xfrm>
          <a:prstGeom prst="roundRect">
            <a:avLst>
              <a:gd name="adj" fmla="val 4444"/>
            </a:avLst>
          </a:prstGeom>
          <a:solidFill>
            <a:schemeClr val="bg2"/>
          </a:solidFill>
          <a:ln w="12700">
            <a:solidFill>
              <a:schemeClr val="bg2"/>
            </a:solidFill>
            <a:prstDash val="solid"/>
          </a:ln>
        </p:spPr>
        <p:txBody>
          <a:bodyPr/>
          <a:lstStyle/>
          <a:p>
            <a:endParaRPr lang="ko-KR" altLang="en-US"/>
          </a:p>
        </p:txBody>
      </p:sp>
      <p:sp>
        <p:nvSpPr>
          <p:cNvPr id="14" name="num C"/>
          <p:cNvSpPr/>
          <p:nvPr/>
        </p:nvSpPr>
        <p:spPr>
          <a:xfrm>
            <a:off x="8366760" y="164592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15" name="num text C"/>
          <p:cNvSpPr txBox="1"/>
          <p:nvPr/>
        </p:nvSpPr>
        <p:spPr>
          <a:xfrm>
            <a:off x="8366760" y="16459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C</a:t>
            </a:r>
            <a:endParaRPr lang="en-US" sz="1800" dirty="0"/>
          </a:p>
        </p:txBody>
      </p:sp>
      <p:sp>
        <p:nvSpPr>
          <p:cNvPr id="16" name="card title 월 1회 품목"/>
          <p:cNvSpPr txBox="1"/>
          <p:nvPr/>
        </p:nvSpPr>
        <p:spPr>
          <a:xfrm>
            <a:off x="9006840" y="1618488"/>
            <a:ext cx="2423160" cy="566928"/>
          </a:xfrm>
          <a:prstGeom prst="rect">
            <a:avLst/>
          </a:prstGeom>
          <a:noFill/>
          <a:ln/>
        </p:spPr>
        <p:txBody>
          <a:bodyPr wrap="square" lIns="0" tIns="0" rIns="0" bIns="0" rtlCol="0" anchor="ctr"/>
          <a:lstStyle/>
          <a:p>
            <a:pPr marL="0" indent="0">
              <a:buNone/>
            </a:pPr>
            <a:r>
              <a:rPr lang="en-US" sz="1800" b="1" dirty="0">
                <a:solidFill>
                  <a:schemeClr val="tx2"/>
                </a:solidFill>
              </a:rPr>
              <a:t>월 1회 품목</a:t>
            </a:r>
            <a:endParaRPr lang="en-US" sz="1800" dirty="0"/>
          </a:p>
        </p:txBody>
      </p:sp>
      <p:sp>
        <p:nvSpPr>
          <p:cNvPr id="17" name="card body 월 1회 품목"/>
          <p:cNvSpPr txBox="1"/>
          <p:nvPr/>
        </p:nvSpPr>
        <p:spPr>
          <a:xfrm>
            <a:off x="8412480" y="2286000"/>
            <a:ext cx="2971800" cy="1417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월말 한 건 (프리폼 등)</a:t>
            </a:r>
            <a:endParaRPr lang="en-US" sz="1400" dirty="0"/>
          </a:p>
          <a:p>
            <a:pPr marL="177800" indent="-177800">
              <a:spcAft>
                <a:spcPts val="600"/>
              </a:spcAft>
              <a:buSzPct val="100000"/>
              <a:buChar char="•"/>
            </a:pPr>
            <a:r>
              <a:rPr lang="en-US" sz="1400" dirty="0">
                <a:solidFill>
                  <a:schemeClr val="tx1"/>
                </a:solidFill>
              </a:rPr>
              <a:t>월 단위로만 관리, 주간 계획 제외</a:t>
            </a:r>
            <a:endParaRPr lang="en-US" sz="1400" dirty="0"/>
          </a:p>
        </p:txBody>
      </p:sp>
      <p:sp>
        <p:nvSpPr>
          <p:cNvPr id="18" name="train bar"/>
          <p:cNvSpPr/>
          <p:nvPr/>
        </p:nvSpPr>
        <p:spPr>
          <a:xfrm>
            <a:off x="548640" y="4114800"/>
            <a:ext cx="8651504" cy="685800"/>
          </a:xfrm>
          <a:prstGeom prst="roundRect">
            <a:avLst>
              <a:gd name="adj" fmla="val 13333"/>
            </a:avLst>
          </a:prstGeom>
          <a:solidFill>
            <a:schemeClr val="tx2"/>
          </a:solidFill>
          <a:ln w="12700">
            <a:solidFill>
              <a:schemeClr val="tx2"/>
            </a:solidFill>
            <a:prstDash val="solid"/>
          </a:ln>
        </p:spPr>
        <p:txBody>
          <a:bodyPr/>
          <a:lstStyle/>
          <a:p>
            <a:endParaRPr lang="ko-KR" altLang="en-US"/>
          </a:p>
        </p:txBody>
      </p:sp>
      <p:sp>
        <p:nvSpPr>
          <p:cNvPr id="19" name="train text"/>
          <p:cNvSpPr txBox="1"/>
          <p:nvPr/>
        </p:nvSpPr>
        <p:spPr>
          <a:xfrm>
            <a:off x="548640" y="4114800"/>
            <a:ext cx="8651504" cy="685800"/>
          </a:xfrm>
          <a:prstGeom prst="rect">
            <a:avLst/>
          </a:prstGeom>
          <a:noFill/>
          <a:ln/>
        </p:spPr>
        <p:txBody>
          <a:bodyPr wrap="square" lIns="0" tIns="0" rIns="0" bIns="0" rtlCol="0" anchor="ctr"/>
          <a:lstStyle/>
          <a:p>
            <a:pPr marL="0" indent="0" algn="ctr">
              <a:buNone/>
            </a:pPr>
            <a:r>
              <a:rPr lang="en-US" sz="1800" b="1" dirty="0">
                <a:solidFill>
                  <a:schemeClr val="bg1"/>
                </a:solidFill>
              </a:rPr>
              <a:t>2021 ~ 2024년  학습</a:t>
            </a:r>
            <a:endParaRPr lang="en-US" sz="1800" dirty="0"/>
          </a:p>
        </p:txBody>
      </p:sp>
      <p:sp>
        <p:nvSpPr>
          <p:cNvPr id="20" name="test bar"/>
          <p:cNvSpPr/>
          <p:nvPr/>
        </p:nvSpPr>
        <p:spPr>
          <a:xfrm>
            <a:off x="9421978" y="4114800"/>
            <a:ext cx="2218334" cy="685800"/>
          </a:xfrm>
          <a:prstGeom prst="roundRect">
            <a:avLst>
              <a:gd name="adj" fmla="val 13333"/>
            </a:avLst>
          </a:prstGeom>
          <a:solidFill>
            <a:schemeClr val="accent1"/>
          </a:solidFill>
          <a:ln w="12700">
            <a:solidFill>
              <a:schemeClr val="accent1"/>
            </a:solidFill>
            <a:prstDash val="solid"/>
          </a:ln>
        </p:spPr>
        <p:txBody>
          <a:bodyPr/>
          <a:lstStyle/>
          <a:p>
            <a:endParaRPr lang="ko-KR" altLang="en-US"/>
          </a:p>
        </p:txBody>
      </p:sp>
      <p:sp>
        <p:nvSpPr>
          <p:cNvPr id="21" name="test text"/>
          <p:cNvSpPr txBox="1"/>
          <p:nvPr/>
        </p:nvSpPr>
        <p:spPr>
          <a:xfrm>
            <a:off x="9421978" y="4114800"/>
            <a:ext cx="2218334" cy="685800"/>
          </a:xfrm>
          <a:prstGeom prst="rect">
            <a:avLst/>
          </a:prstGeom>
          <a:noFill/>
          <a:ln/>
        </p:spPr>
        <p:txBody>
          <a:bodyPr wrap="square" lIns="0" tIns="0" rIns="0" bIns="0" rtlCol="0" anchor="ctr"/>
          <a:lstStyle/>
          <a:p>
            <a:pPr marL="0" indent="0" algn="ctr">
              <a:buNone/>
            </a:pPr>
            <a:r>
              <a:rPr lang="en-US" sz="1800" b="1" dirty="0">
                <a:solidFill>
                  <a:schemeClr val="bg1"/>
                </a:solidFill>
              </a:rPr>
              <a:t>2025년  검증</a:t>
            </a:r>
            <a:endParaRPr lang="en-US" sz="1800" dirty="0"/>
          </a:p>
        </p:txBody>
      </p:sp>
      <p:sp>
        <p:nvSpPr>
          <p:cNvPr id="22" name="verify text"/>
          <p:cNvSpPr txBox="1"/>
          <p:nvPr/>
        </p:nvSpPr>
        <p:spPr>
          <a:xfrm>
            <a:off x="548640" y="4937760"/>
            <a:ext cx="11091672" cy="1280160"/>
          </a:xfrm>
          <a:prstGeom prst="rect">
            <a:avLst/>
          </a:prstGeom>
          <a:noFill/>
          <a:ln/>
        </p:spPr>
        <p:txBody>
          <a:bodyPr wrap="square" lIns="0" tIns="0" rIns="0" bIns="0" rtlCol="0" anchor="t"/>
          <a:lstStyle/>
          <a:p>
            <a:pPr marL="0" indent="0">
              <a:spcAft>
                <a:spcPts val="600"/>
              </a:spcAft>
              <a:buNone/>
            </a:pPr>
            <a:r>
              <a:rPr lang="en-US" sz="1500" b="1" dirty="0">
                <a:solidFill>
                  <a:schemeClr val="tx2"/>
                </a:solidFill>
              </a:rPr>
              <a:t>2025년을 모르는 상태에서 맞혀 본다. </a:t>
            </a:r>
            <a:r>
              <a:rPr lang="en-US" sz="1500" dirty="0">
                <a:solidFill>
                  <a:schemeClr val="tx1"/>
                </a:solidFill>
              </a:rPr>
              <a:t>매주 '그 시점까지의 데이터'로 다음 1~4주를 예측해 실제와 비교(52주 반복). 점수는 물량 가중 오차율(WAPE)과 출고 유무 적중률. 최근 8주 평균 같은 기준선보다 좋아야 합격.</a:t>
            </a:r>
            <a:endParaRPr lang="en-US" sz="1500" dirty="0"/>
          </a:p>
          <a:p>
            <a:pPr marL="0" indent="0">
              <a:spcAft>
                <a:spcPts val="600"/>
              </a:spcAft>
              <a:buNone/>
            </a:pPr>
            <a:r>
              <a:rPr lang="en-US" sz="1500" b="1" dirty="0">
                <a:solidFill>
                  <a:schemeClr val="tx2"/>
                </a:solidFill>
              </a:rPr>
              <a:t>외부 변수 실험. </a:t>
            </a:r>
            <a:r>
              <a:rPr lang="en-US" sz="1500" dirty="0">
                <a:solidFill>
                  <a:schemeClr val="tx1"/>
                </a:solidFill>
              </a:rPr>
              <a:t>기상청 기온, 설·추석 연휴, 통계청·국세청 주류 통계를 하나씩 넣어 점수가 좋아지는 것만 남긴다.</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buNone/>
            </a:pPr>
            <a:r>
              <a:rPr lang="en-US" sz="3000" b="1" dirty="0">
                <a:solidFill>
                  <a:schemeClr val="tx2"/>
                </a:solidFill>
              </a:rPr>
              <a:t>진행 계획 · 4단계, 단계마다 숫자로 확인</a:t>
            </a:r>
            <a:endParaRPr lang="en-US" sz="3000" dirty="0"/>
          </a:p>
        </p:txBody>
      </p:sp>
      <p:sp>
        <p:nvSpPr>
          <p:cNvPr id="3" name="card 데이터 정리"/>
          <p:cNvSpPr/>
          <p:nvPr/>
        </p:nvSpPr>
        <p:spPr>
          <a:xfrm>
            <a:off x="548640" y="1417320"/>
            <a:ext cx="2601468" cy="3749040"/>
          </a:xfrm>
          <a:prstGeom prst="roundRect">
            <a:avLst>
              <a:gd name="adj" fmla="val 4218"/>
            </a:avLst>
          </a:prstGeom>
          <a:solidFill>
            <a:schemeClr val="bg2"/>
          </a:solidFill>
          <a:ln w="12700">
            <a:solidFill>
              <a:schemeClr val="bg2"/>
            </a:solidFill>
            <a:prstDash val="solid"/>
          </a:ln>
        </p:spPr>
        <p:txBody>
          <a:bodyPr/>
          <a:lstStyle/>
          <a:p>
            <a:endParaRPr lang="ko-KR" altLang="en-US"/>
          </a:p>
        </p:txBody>
      </p:sp>
      <p:sp>
        <p:nvSpPr>
          <p:cNvPr id="4" name="num 1"/>
          <p:cNvSpPr/>
          <p:nvPr/>
        </p:nvSpPr>
        <p:spPr>
          <a:xfrm>
            <a:off x="777240" y="164592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5" name="num text 1"/>
          <p:cNvSpPr txBox="1"/>
          <p:nvPr/>
        </p:nvSpPr>
        <p:spPr>
          <a:xfrm>
            <a:off x="777240" y="16459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card title 데이터 정리"/>
          <p:cNvSpPr txBox="1"/>
          <p:nvPr/>
        </p:nvSpPr>
        <p:spPr>
          <a:xfrm>
            <a:off x="1417320" y="1618488"/>
            <a:ext cx="1504188" cy="566928"/>
          </a:xfrm>
          <a:prstGeom prst="rect">
            <a:avLst/>
          </a:prstGeom>
          <a:noFill/>
          <a:ln/>
        </p:spPr>
        <p:txBody>
          <a:bodyPr wrap="square" lIns="0" tIns="0" rIns="0" bIns="0" rtlCol="0" anchor="ctr"/>
          <a:lstStyle/>
          <a:p>
            <a:pPr marL="0" indent="0">
              <a:buNone/>
            </a:pPr>
            <a:r>
              <a:rPr lang="en-US" sz="1700" b="1" dirty="0">
                <a:solidFill>
                  <a:schemeClr val="tx2"/>
                </a:solidFill>
              </a:rPr>
              <a:t>데이터 정리</a:t>
            </a:r>
            <a:endParaRPr lang="en-US" sz="1700" dirty="0"/>
          </a:p>
        </p:txBody>
      </p:sp>
      <p:sp>
        <p:nvSpPr>
          <p:cNvPr id="7" name="card body 데이터 정리"/>
          <p:cNvSpPr txBox="1"/>
          <p:nvPr/>
        </p:nvSpPr>
        <p:spPr>
          <a:xfrm>
            <a:off x="822960" y="2286000"/>
            <a:ext cx="2052828" cy="2697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20개 파일을 품종·거래처·주 단위로 통합</a:t>
            </a:r>
            <a:endParaRPr lang="en-US" sz="1400" dirty="0"/>
          </a:p>
          <a:p>
            <a:pPr marL="177800" indent="-177800">
              <a:spcAft>
                <a:spcPts val="600"/>
              </a:spcAft>
              <a:buSzPct val="100000"/>
              <a:buChar char="•"/>
            </a:pPr>
            <a:r>
              <a:rPr lang="en-US" sz="1400" dirty="0">
                <a:solidFill>
                  <a:schemeClr val="tx1"/>
                </a:solidFill>
              </a:rPr>
              <a:t>월말 전표·청주 생산 품목 분리</a:t>
            </a:r>
            <a:endParaRPr lang="en-US" sz="1400" dirty="0"/>
          </a:p>
          <a:p>
            <a:pPr marL="177800" indent="-177800">
              <a:spcAft>
                <a:spcPts val="600"/>
              </a:spcAft>
              <a:buSzPct val="100000"/>
              <a:buChar char="•"/>
            </a:pPr>
            <a:r>
              <a:rPr lang="en-US" sz="1400" dirty="0">
                <a:solidFill>
                  <a:schemeClr val="tx1"/>
                </a:solidFill>
              </a:rPr>
              <a:t>확인: 원본 합계와 일치</a:t>
            </a:r>
            <a:endParaRPr lang="en-US" sz="1400" dirty="0"/>
          </a:p>
        </p:txBody>
      </p:sp>
      <p:sp>
        <p:nvSpPr>
          <p:cNvPr id="8" name="dur 0"/>
          <p:cNvSpPr txBox="1"/>
          <p:nvPr/>
        </p:nvSpPr>
        <p:spPr>
          <a:xfrm>
            <a:off x="822960" y="4526280"/>
            <a:ext cx="2052828" cy="457200"/>
          </a:xfrm>
          <a:prstGeom prst="rect">
            <a:avLst/>
          </a:prstGeom>
          <a:noFill/>
          <a:ln/>
        </p:spPr>
        <p:txBody>
          <a:bodyPr wrap="square" lIns="0" tIns="0" rIns="0" bIns="0" rtlCol="0" anchor="ctr"/>
          <a:lstStyle/>
          <a:p>
            <a:pPr marL="0" indent="0">
              <a:buNone/>
            </a:pPr>
            <a:r>
              <a:rPr lang="en-US" sz="1500" b="1" dirty="0">
                <a:solidFill>
                  <a:schemeClr val="accent1"/>
                </a:solidFill>
              </a:rPr>
              <a:t>1주</a:t>
            </a:r>
            <a:endParaRPr lang="en-US" sz="1500" dirty="0"/>
          </a:p>
        </p:txBody>
      </p:sp>
      <p:sp>
        <p:nvSpPr>
          <p:cNvPr id="9" name="card 예측 모델·검증"/>
          <p:cNvSpPr/>
          <p:nvPr/>
        </p:nvSpPr>
        <p:spPr>
          <a:xfrm>
            <a:off x="3378708" y="1417320"/>
            <a:ext cx="2601468" cy="3749040"/>
          </a:xfrm>
          <a:prstGeom prst="roundRect">
            <a:avLst>
              <a:gd name="adj" fmla="val 4218"/>
            </a:avLst>
          </a:prstGeom>
          <a:solidFill>
            <a:schemeClr val="bg2"/>
          </a:solidFill>
          <a:ln w="12700">
            <a:solidFill>
              <a:schemeClr val="bg2"/>
            </a:solidFill>
            <a:prstDash val="solid"/>
          </a:ln>
        </p:spPr>
        <p:txBody>
          <a:bodyPr/>
          <a:lstStyle/>
          <a:p>
            <a:endParaRPr lang="ko-KR" altLang="en-US"/>
          </a:p>
        </p:txBody>
      </p:sp>
      <p:sp>
        <p:nvSpPr>
          <p:cNvPr id="10" name="num 2"/>
          <p:cNvSpPr/>
          <p:nvPr/>
        </p:nvSpPr>
        <p:spPr>
          <a:xfrm>
            <a:off x="3607308" y="164592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11" name="num text 2"/>
          <p:cNvSpPr txBox="1"/>
          <p:nvPr/>
        </p:nvSpPr>
        <p:spPr>
          <a:xfrm>
            <a:off x="3607308" y="16459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card title 예측 모델·검증"/>
          <p:cNvSpPr txBox="1"/>
          <p:nvPr/>
        </p:nvSpPr>
        <p:spPr>
          <a:xfrm>
            <a:off x="4247388" y="1618488"/>
            <a:ext cx="1504188" cy="566928"/>
          </a:xfrm>
          <a:prstGeom prst="rect">
            <a:avLst/>
          </a:prstGeom>
          <a:noFill/>
          <a:ln/>
        </p:spPr>
        <p:txBody>
          <a:bodyPr wrap="square" lIns="0" tIns="0" rIns="0" bIns="0" rtlCol="0" anchor="ctr"/>
          <a:lstStyle/>
          <a:p>
            <a:pPr marL="0" indent="0">
              <a:buNone/>
            </a:pPr>
            <a:r>
              <a:rPr lang="en-US" sz="1700" b="1" dirty="0">
                <a:solidFill>
                  <a:schemeClr val="tx2"/>
                </a:solidFill>
              </a:rPr>
              <a:t>예측 모델·검증</a:t>
            </a:r>
            <a:endParaRPr lang="en-US" sz="1700" dirty="0"/>
          </a:p>
        </p:txBody>
      </p:sp>
      <p:sp>
        <p:nvSpPr>
          <p:cNvPr id="13" name="card body 예측 모델·검증"/>
          <p:cNvSpPr txBox="1"/>
          <p:nvPr/>
        </p:nvSpPr>
        <p:spPr>
          <a:xfrm>
            <a:off x="3653028" y="2286000"/>
            <a:ext cx="2052828" cy="2697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기준선 → 품목 유형별 모델</a:t>
            </a:r>
            <a:endParaRPr lang="en-US" sz="1400" dirty="0"/>
          </a:p>
          <a:p>
            <a:pPr marL="177800" indent="-177800">
              <a:spcAft>
                <a:spcPts val="600"/>
              </a:spcAft>
              <a:buSzPct val="100000"/>
              <a:buChar char="•"/>
            </a:pPr>
            <a:r>
              <a:rPr lang="en-US" sz="1400" dirty="0">
                <a:solidFill>
                  <a:schemeClr val="tx1"/>
                </a:solidFill>
              </a:rPr>
              <a:t>2025년 매주 예측 검증</a:t>
            </a:r>
            <a:endParaRPr lang="en-US" sz="1400" dirty="0"/>
          </a:p>
          <a:p>
            <a:pPr marL="177800" indent="-177800">
              <a:spcAft>
                <a:spcPts val="600"/>
              </a:spcAft>
              <a:buSzPct val="100000"/>
              <a:buChar char="•"/>
            </a:pPr>
            <a:r>
              <a:rPr lang="en-US" sz="1400" dirty="0">
                <a:solidFill>
                  <a:schemeClr val="tx1"/>
                </a:solidFill>
              </a:rPr>
              <a:t>확인: 오차율이 기준선보다 낮음</a:t>
            </a:r>
            <a:endParaRPr lang="en-US" sz="1400" dirty="0"/>
          </a:p>
        </p:txBody>
      </p:sp>
      <p:sp>
        <p:nvSpPr>
          <p:cNvPr id="14" name="dur 1"/>
          <p:cNvSpPr txBox="1"/>
          <p:nvPr/>
        </p:nvSpPr>
        <p:spPr>
          <a:xfrm>
            <a:off x="3653028" y="4526280"/>
            <a:ext cx="2052828" cy="457200"/>
          </a:xfrm>
          <a:prstGeom prst="rect">
            <a:avLst/>
          </a:prstGeom>
          <a:noFill/>
          <a:ln/>
        </p:spPr>
        <p:txBody>
          <a:bodyPr wrap="square" lIns="0" tIns="0" rIns="0" bIns="0" rtlCol="0" anchor="ctr"/>
          <a:lstStyle/>
          <a:p>
            <a:pPr marL="0" indent="0">
              <a:buNone/>
            </a:pPr>
            <a:r>
              <a:rPr lang="en-US" sz="1500" b="1" dirty="0">
                <a:solidFill>
                  <a:schemeClr val="accent1"/>
                </a:solidFill>
              </a:rPr>
              <a:t>2주</a:t>
            </a:r>
            <a:endParaRPr lang="en-US" sz="1500" dirty="0"/>
          </a:p>
        </p:txBody>
      </p:sp>
      <p:sp>
        <p:nvSpPr>
          <p:cNvPr id="15" name="card 외부 변수 실험"/>
          <p:cNvSpPr/>
          <p:nvPr/>
        </p:nvSpPr>
        <p:spPr>
          <a:xfrm>
            <a:off x="6208776" y="1417320"/>
            <a:ext cx="2601468" cy="3749040"/>
          </a:xfrm>
          <a:prstGeom prst="roundRect">
            <a:avLst>
              <a:gd name="adj" fmla="val 4218"/>
            </a:avLst>
          </a:prstGeom>
          <a:solidFill>
            <a:schemeClr val="bg2"/>
          </a:solidFill>
          <a:ln w="12700">
            <a:solidFill>
              <a:schemeClr val="bg2"/>
            </a:solidFill>
            <a:prstDash val="solid"/>
          </a:ln>
        </p:spPr>
        <p:txBody>
          <a:bodyPr/>
          <a:lstStyle/>
          <a:p>
            <a:endParaRPr lang="ko-KR" altLang="en-US"/>
          </a:p>
        </p:txBody>
      </p:sp>
      <p:sp>
        <p:nvSpPr>
          <p:cNvPr id="16" name="num 3"/>
          <p:cNvSpPr/>
          <p:nvPr/>
        </p:nvSpPr>
        <p:spPr>
          <a:xfrm>
            <a:off x="6437376" y="164592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17" name="num text 3"/>
          <p:cNvSpPr txBox="1"/>
          <p:nvPr/>
        </p:nvSpPr>
        <p:spPr>
          <a:xfrm>
            <a:off x="6437376" y="16459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8" name="card title 외부 변수 실험"/>
          <p:cNvSpPr txBox="1"/>
          <p:nvPr/>
        </p:nvSpPr>
        <p:spPr>
          <a:xfrm>
            <a:off x="7077456" y="1618488"/>
            <a:ext cx="1504188" cy="566928"/>
          </a:xfrm>
          <a:prstGeom prst="rect">
            <a:avLst/>
          </a:prstGeom>
          <a:noFill/>
          <a:ln/>
        </p:spPr>
        <p:txBody>
          <a:bodyPr wrap="square" lIns="0" tIns="0" rIns="0" bIns="0" rtlCol="0" anchor="ctr"/>
          <a:lstStyle/>
          <a:p>
            <a:pPr marL="0" indent="0">
              <a:buNone/>
            </a:pPr>
            <a:r>
              <a:rPr lang="en-US" sz="1700" b="1" dirty="0">
                <a:solidFill>
                  <a:schemeClr val="tx2"/>
                </a:solidFill>
              </a:rPr>
              <a:t>외부 변수 실험</a:t>
            </a:r>
            <a:endParaRPr lang="en-US" sz="1700" dirty="0"/>
          </a:p>
        </p:txBody>
      </p:sp>
      <p:sp>
        <p:nvSpPr>
          <p:cNvPr id="19" name="card body 외부 변수 실험"/>
          <p:cNvSpPr txBox="1"/>
          <p:nvPr/>
        </p:nvSpPr>
        <p:spPr>
          <a:xfrm>
            <a:off x="6483096" y="2286000"/>
            <a:ext cx="2052828" cy="2697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기온·공휴일·주류 통계 추가</a:t>
            </a:r>
            <a:endParaRPr lang="en-US" sz="1400" dirty="0"/>
          </a:p>
          <a:p>
            <a:pPr marL="177800" indent="-177800">
              <a:spcAft>
                <a:spcPts val="600"/>
              </a:spcAft>
              <a:buSzPct val="100000"/>
              <a:buChar char="•"/>
            </a:pPr>
            <a:r>
              <a:rPr lang="en-US" sz="1400" dirty="0">
                <a:solidFill>
                  <a:schemeClr val="tx1"/>
                </a:solidFill>
              </a:rPr>
              <a:t>변수별 점수 변화 비교</a:t>
            </a:r>
            <a:endParaRPr lang="en-US" sz="1400" dirty="0"/>
          </a:p>
          <a:p>
            <a:pPr marL="177800" indent="-177800">
              <a:spcAft>
                <a:spcPts val="600"/>
              </a:spcAft>
              <a:buSzPct val="100000"/>
              <a:buChar char="•"/>
            </a:pPr>
            <a:r>
              <a:rPr lang="en-US" sz="1400" dirty="0">
                <a:solidFill>
                  <a:schemeClr val="tx1"/>
                </a:solidFill>
              </a:rPr>
              <a:t>확인: 좋아지는 변수만 채택</a:t>
            </a:r>
            <a:endParaRPr lang="en-US" sz="1400" dirty="0"/>
          </a:p>
        </p:txBody>
      </p:sp>
      <p:sp>
        <p:nvSpPr>
          <p:cNvPr id="20" name="dur 2"/>
          <p:cNvSpPr txBox="1"/>
          <p:nvPr/>
        </p:nvSpPr>
        <p:spPr>
          <a:xfrm>
            <a:off x="6483096" y="4526280"/>
            <a:ext cx="2052828" cy="457200"/>
          </a:xfrm>
          <a:prstGeom prst="rect">
            <a:avLst/>
          </a:prstGeom>
          <a:noFill/>
          <a:ln/>
        </p:spPr>
        <p:txBody>
          <a:bodyPr wrap="square" lIns="0" tIns="0" rIns="0" bIns="0" rtlCol="0" anchor="ctr"/>
          <a:lstStyle/>
          <a:p>
            <a:pPr marL="0" indent="0">
              <a:buNone/>
            </a:pPr>
            <a:r>
              <a:rPr lang="en-US" sz="1500" b="1" dirty="0">
                <a:solidFill>
                  <a:schemeClr val="accent1"/>
                </a:solidFill>
              </a:rPr>
              <a:t>1주</a:t>
            </a:r>
            <a:endParaRPr lang="en-US" sz="1500" dirty="0"/>
          </a:p>
        </p:txBody>
      </p:sp>
      <p:sp>
        <p:nvSpPr>
          <p:cNvPr id="21" name="card 웹 화면"/>
          <p:cNvSpPr/>
          <p:nvPr/>
        </p:nvSpPr>
        <p:spPr>
          <a:xfrm>
            <a:off x="9038844" y="1417320"/>
            <a:ext cx="2601468" cy="3749040"/>
          </a:xfrm>
          <a:prstGeom prst="roundRect">
            <a:avLst>
              <a:gd name="adj" fmla="val 4218"/>
            </a:avLst>
          </a:prstGeom>
          <a:solidFill>
            <a:schemeClr val="bg2"/>
          </a:solidFill>
          <a:ln w="12700">
            <a:solidFill>
              <a:schemeClr val="bg2"/>
            </a:solidFill>
            <a:prstDash val="solid"/>
          </a:ln>
        </p:spPr>
        <p:txBody>
          <a:bodyPr/>
          <a:lstStyle/>
          <a:p>
            <a:endParaRPr lang="ko-KR" altLang="en-US"/>
          </a:p>
        </p:txBody>
      </p:sp>
      <p:sp>
        <p:nvSpPr>
          <p:cNvPr id="22" name="num 4"/>
          <p:cNvSpPr/>
          <p:nvPr/>
        </p:nvSpPr>
        <p:spPr>
          <a:xfrm>
            <a:off x="9267444" y="164592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23" name="num text 4"/>
          <p:cNvSpPr txBox="1"/>
          <p:nvPr/>
        </p:nvSpPr>
        <p:spPr>
          <a:xfrm>
            <a:off x="9267444" y="16459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4" name="card title 웹 화면"/>
          <p:cNvSpPr txBox="1"/>
          <p:nvPr/>
        </p:nvSpPr>
        <p:spPr>
          <a:xfrm>
            <a:off x="9907524" y="1618488"/>
            <a:ext cx="1504188" cy="566928"/>
          </a:xfrm>
          <a:prstGeom prst="rect">
            <a:avLst/>
          </a:prstGeom>
          <a:noFill/>
          <a:ln/>
        </p:spPr>
        <p:txBody>
          <a:bodyPr wrap="square" lIns="0" tIns="0" rIns="0" bIns="0" rtlCol="0" anchor="ctr"/>
          <a:lstStyle/>
          <a:p>
            <a:pPr marL="0" indent="0">
              <a:buNone/>
            </a:pPr>
            <a:r>
              <a:rPr lang="en-US" sz="1700" b="1" dirty="0">
                <a:solidFill>
                  <a:schemeClr val="tx2"/>
                </a:solidFill>
              </a:rPr>
              <a:t>웹 화면</a:t>
            </a:r>
            <a:endParaRPr lang="en-US" sz="1700" dirty="0"/>
          </a:p>
        </p:txBody>
      </p:sp>
      <p:sp>
        <p:nvSpPr>
          <p:cNvPr id="25" name="card body 웹 화면"/>
          <p:cNvSpPr txBox="1"/>
          <p:nvPr/>
        </p:nvSpPr>
        <p:spPr>
          <a:xfrm>
            <a:off x="9313164" y="2286000"/>
            <a:ext cx="2052828" cy="2697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가용재고 보드, 주간 계획, 변경 이력</a:t>
            </a:r>
            <a:endParaRPr lang="en-US" sz="1400" dirty="0"/>
          </a:p>
          <a:p>
            <a:pPr marL="177800" indent="-177800">
              <a:spcAft>
                <a:spcPts val="600"/>
              </a:spcAft>
              <a:buSzPct val="100000"/>
              <a:buChar char="•"/>
            </a:pPr>
            <a:r>
              <a:rPr lang="en-US" sz="1400" dirty="0">
                <a:solidFill>
                  <a:schemeClr val="tx1"/>
                </a:solidFill>
              </a:rPr>
              <a:t>회사 PC에서 시연</a:t>
            </a:r>
            <a:endParaRPr lang="en-US" sz="1400" dirty="0"/>
          </a:p>
          <a:p>
            <a:pPr marL="177800" indent="-177800">
              <a:spcAft>
                <a:spcPts val="600"/>
              </a:spcAft>
              <a:buSzPct val="100000"/>
              <a:buChar char="•"/>
            </a:pPr>
            <a:r>
              <a:rPr lang="en-US" sz="1400" dirty="0">
                <a:solidFill>
                  <a:schemeClr val="tx1"/>
                </a:solidFill>
              </a:rPr>
              <a:t>확인: 담당자 검토 2회</a:t>
            </a:r>
            <a:endParaRPr lang="en-US" sz="1400" dirty="0"/>
          </a:p>
        </p:txBody>
      </p:sp>
      <p:sp>
        <p:nvSpPr>
          <p:cNvPr id="26" name="dur 3"/>
          <p:cNvSpPr txBox="1"/>
          <p:nvPr/>
        </p:nvSpPr>
        <p:spPr>
          <a:xfrm>
            <a:off x="9313164" y="4526280"/>
            <a:ext cx="2052828" cy="457200"/>
          </a:xfrm>
          <a:prstGeom prst="rect">
            <a:avLst/>
          </a:prstGeom>
          <a:noFill/>
          <a:ln/>
        </p:spPr>
        <p:txBody>
          <a:bodyPr wrap="square" lIns="0" tIns="0" rIns="0" bIns="0" rtlCol="0" anchor="ctr"/>
          <a:lstStyle/>
          <a:p>
            <a:pPr marL="0" indent="0">
              <a:buNone/>
            </a:pPr>
            <a:r>
              <a:rPr lang="en-US" sz="1500" b="1" dirty="0">
                <a:solidFill>
                  <a:schemeClr val="accent1"/>
                </a:solidFill>
              </a:rPr>
              <a:t>2~3주</a:t>
            </a:r>
            <a:endParaRPr lang="en-US" sz="1500" dirty="0"/>
          </a:p>
        </p:txBody>
      </p:sp>
      <p:sp>
        <p:nvSpPr>
          <p:cNvPr id="27" name="plan note"/>
          <p:cNvSpPr txBox="1"/>
          <p:nvPr/>
        </p:nvSpPr>
        <p:spPr>
          <a:xfrm>
            <a:off x="548640" y="5394960"/>
            <a:ext cx="11091672" cy="731520"/>
          </a:xfrm>
          <a:prstGeom prst="rect">
            <a:avLst/>
          </a:prstGeom>
          <a:noFill/>
          <a:ln/>
        </p:spPr>
        <p:txBody>
          <a:bodyPr wrap="square" lIns="0" tIns="0" rIns="0" bIns="0" rtlCol="0" anchor="ctr"/>
          <a:lstStyle/>
          <a:p>
            <a:pPr marL="0" indent="0">
              <a:buNone/>
            </a:pPr>
            <a:r>
              <a:rPr lang="en-US" sz="1500" dirty="0">
                <a:solidFill>
                  <a:schemeClr val="tx1"/>
                </a:solidFill>
              </a:rPr>
              <a:t>1~3단계는 파이썬 분석 코드만으로 진행하며 매 단계 결과를 숫자로 보고한다. 웹 화면은 예측이 쓸 만해진 뒤에 만든다. 적재 계산기와 원자재 발주는 같은 데이터 위에 나중에 붙인다.</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buNone/>
            </a:pPr>
            <a:r>
              <a:rPr lang="en-US" sz="3000" b="1" dirty="0">
                <a:solidFill>
                  <a:schemeClr val="tx2"/>
                </a:solidFill>
              </a:rPr>
              <a:t>더 잘 되려면 필요한 것 · 다음 주에 확인</a:t>
            </a:r>
            <a:endParaRPr lang="en-US" sz="3000" dirty="0"/>
          </a:p>
        </p:txBody>
      </p:sp>
      <p:sp>
        <p:nvSpPr>
          <p:cNvPr id="3" name="card 주간 생산계획 양식과 수립 근거"/>
          <p:cNvSpPr/>
          <p:nvPr/>
        </p:nvSpPr>
        <p:spPr>
          <a:xfrm>
            <a:off x="548640" y="1371600"/>
            <a:ext cx="5541264" cy="1554480"/>
          </a:xfrm>
          <a:prstGeom prst="roundRect">
            <a:avLst>
              <a:gd name="adj" fmla="val 7059"/>
            </a:avLst>
          </a:prstGeom>
          <a:solidFill>
            <a:schemeClr val="bg2"/>
          </a:solidFill>
          <a:ln w="12700">
            <a:solidFill>
              <a:schemeClr val="bg2"/>
            </a:solidFill>
            <a:prstDash val="solid"/>
          </a:ln>
        </p:spPr>
        <p:txBody>
          <a:bodyPr/>
          <a:lstStyle/>
          <a:p>
            <a:endParaRPr lang="ko-KR" altLang="en-US"/>
          </a:p>
        </p:txBody>
      </p:sp>
      <p:sp>
        <p:nvSpPr>
          <p:cNvPr id="4" name="num 1"/>
          <p:cNvSpPr/>
          <p:nvPr/>
        </p:nvSpPr>
        <p:spPr>
          <a:xfrm>
            <a:off x="777240" y="160020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5" name="num text 1"/>
          <p:cNvSpPr txBox="1"/>
          <p:nvPr/>
        </p:nvSpPr>
        <p:spPr>
          <a:xfrm>
            <a:off x="777240" y="16002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card title 주간 생산계획 양식과 수립 근거"/>
          <p:cNvSpPr txBox="1"/>
          <p:nvPr/>
        </p:nvSpPr>
        <p:spPr>
          <a:xfrm>
            <a:off x="1417320" y="1572768"/>
            <a:ext cx="4443984" cy="566928"/>
          </a:xfrm>
          <a:prstGeom prst="rect">
            <a:avLst/>
          </a:prstGeom>
          <a:noFill/>
          <a:ln/>
        </p:spPr>
        <p:txBody>
          <a:bodyPr wrap="square" lIns="0" tIns="0" rIns="0" bIns="0" rtlCol="0" anchor="ctr"/>
          <a:lstStyle/>
          <a:p>
            <a:pPr marL="0" indent="0">
              <a:buNone/>
            </a:pPr>
            <a:r>
              <a:rPr lang="en-US" sz="1600" b="1" dirty="0">
                <a:solidFill>
                  <a:schemeClr val="tx2"/>
                </a:solidFill>
              </a:rPr>
              <a:t>주간 생산계획 양식과 수립 근거</a:t>
            </a:r>
            <a:endParaRPr lang="en-US" sz="1600" dirty="0"/>
          </a:p>
        </p:txBody>
      </p:sp>
      <p:sp>
        <p:nvSpPr>
          <p:cNvPr id="7" name="card body 주간 생산계획 양식과 수립 근거"/>
          <p:cNvSpPr txBox="1"/>
          <p:nvPr/>
        </p:nvSpPr>
        <p:spPr>
          <a:xfrm>
            <a:off x="822960" y="2240280"/>
            <a:ext cx="4992624" cy="502920"/>
          </a:xfrm>
          <a:prstGeom prst="rect">
            <a:avLst/>
          </a:prstGeom>
          <a:noFill/>
          <a:ln/>
        </p:spPr>
        <p:txBody>
          <a:bodyPr wrap="square" lIns="0" tIns="0" rIns="0" bIns="0" rtlCol="0" anchor="t"/>
          <a:lstStyle/>
          <a:p>
            <a:pPr marL="0" indent="0">
              <a:spcAft>
                <a:spcPts val="600"/>
              </a:spcAft>
              <a:buNone/>
            </a:pPr>
            <a:r>
              <a:rPr lang="en-US" sz="1300" dirty="0">
                <a:solidFill>
                  <a:schemeClr val="tx1"/>
                </a:solidFill>
              </a:rPr>
              <a:t>지금 어떤 모양으로 세우고 수량을 무엇을 보고 정하는지 알아야, 화면을 실제 업무 모양에 맞출 수 있다</a:t>
            </a:r>
            <a:endParaRPr lang="en-US" sz="1300" dirty="0"/>
          </a:p>
        </p:txBody>
      </p:sp>
      <p:sp>
        <p:nvSpPr>
          <p:cNvPr id="8" name="card 설비별 생산 가능 품목과 생산능력"/>
          <p:cNvSpPr/>
          <p:nvPr/>
        </p:nvSpPr>
        <p:spPr>
          <a:xfrm>
            <a:off x="6318504" y="1371600"/>
            <a:ext cx="5541264" cy="1554480"/>
          </a:xfrm>
          <a:prstGeom prst="roundRect">
            <a:avLst>
              <a:gd name="adj" fmla="val 7059"/>
            </a:avLst>
          </a:prstGeom>
          <a:solidFill>
            <a:schemeClr val="bg2"/>
          </a:solidFill>
          <a:ln w="12700">
            <a:solidFill>
              <a:schemeClr val="bg2"/>
            </a:solidFill>
            <a:prstDash val="solid"/>
          </a:ln>
        </p:spPr>
        <p:txBody>
          <a:bodyPr/>
          <a:lstStyle/>
          <a:p>
            <a:endParaRPr lang="ko-KR" altLang="en-US"/>
          </a:p>
        </p:txBody>
      </p:sp>
      <p:sp>
        <p:nvSpPr>
          <p:cNvPr id="9" name="num 2"/>
          <p:cNvSpPr/>
          <p:nvPr/>
        </p:nvSpPr>
        <p:spPr>
          <a:xfrm>
            <a:off x="6547104" y="1600200"/>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10" name="num text 2"/>
          <p:cNvSpPr txBox="1"/>
          <p:nvPr/>
        </p:nvSpPr>
        <p:spPr>
          <a:xfrm>
            <a:off x="6547104" y="16002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card title 설비별 생산 가능 품목과 생산능력"/>
          <p:cNvSpPr txBox="1"/>
          <p:nvPr/>
        </p:nvSpPr>
        <p:spPr>
          <a:xfrm>
            <a:off x="7187184" y="1572768"/>
            <a:ext cx="4443984" cy="566928"/>
          </a:xfrm>
          <a:prstGeom prst="rect">
            <a:avLst/>
          </a:prstGeom>
          <a:noFill/>
          <a:ln/>
        </p:spPr>
        <p:txBody>
          <a:bodyPr wrap="square" lIns="0" tIns="0" rIns="0" bIns="0" rtlCol="0" anchor="ctr"/>
          <a:lstStyle/>
          <a:p>
            <a:pPr marL="0" indent="0">
              <a:buNone/>
            </a:pPr>
            <a:r>
              <a:rPr lang="en-US" sz="1600" b="1" dirty="0">
                <a:solidFill>
                  <a:schemeClr val="tx2"/>
                </a:solidFill>
              </a:rPr>
              <a:t>설비별 생산 가능 품목과 생산능력</a:t>
            </a:r>
            <a:endParaRPr lang="en-US" sz="1600" dirty="0"/>
          </a:p>
        </p:txBody>
      </p:sp>
      <p:sp>
        <p:nvSpPr>
          <p:cNvPr id="12" name="card body 설비별 생산 가능 품목과 생산능력"/>
          <p:cNvSpPr txBox="1"/>
          <p:nvPr/>
        </p:nvSpPr>
        <p:spPr>
          <a:xfrm>
            <a:off x="6592824" y="2240280"/>
            <a:ext cx="4992624" cy="502920"/>
          </a:xfrm>
          <a:prstGeom prst="rect">
            <a:avLst/>
          </a:prstGeom>
          <a:noFill/>
          <a:ln/>
        </p:spPr>
        <p:txBody>
          <a:bodyPr wrap="square" lIns="0" tIns="0" rIns="0" bIns="0" rtlCol="0" anchor="t"/>
          <a:lstStyle/>
          <a:p>
            <a:pPr marL="0" indent="0">
              <a:spcAft>
                <a:spcPts val="600"/>
              </a:spcAft>
              <a:buNone/>
            </a:pPr>
            <a:r>
              <a:rPr lang="en-US" sz="1300" dirty="0">
                <a:solidFill>
                  <a:schemeClr val="tx1"/>
                </a:solidFill>
              </a:rPr>
              <a:t>예측값을 '어느 설비에서 며칠에 얼마나'로 바꾸려면 금형·시간당 생산량 자료가 있어야 한다. 없으면 제안값 채우기까지만 가능</a:t>
            </a:r>
            <a:endParaRPr lang="en-US" sz="1300" dirty="0"/>
          </a:p>
        </p:txBody>
      </p:sp>
      <p:sp>
        <p:nvSpPr>
          <p:cNvPr id="13" name="card 재고(제품수불) 데이터"/>
          <p:cNvSpPr/>
          <p:nvPr/>
        </p:nvSpPr>
        <p:spPr>
          <a:xfrm>
            <a:off x="548640" y="3035808"/>
            <a:ext cx="5541264" cy="1554480"/>
          </a:xfrm>
          <a:prstGeom prst="roundRect">
            <a:avLst>
              <a:gd name="adj" fmla="val 7059"/>
            </a:avLst>
          </a:prstGeom>
          <a:solidFill>
            <a:schemeClr val="bg2"/>
          </a:solidFill>
          <a:ln w="12700">
            <a:solidFill>
              <a:schemeClr val="bg2"/>
            </a:solidFill>
            <a:prstDash val="solid"/>
          </a:ln>
        </p:spPr>
        <p:txBody>
          <a:bodyPr/>
          <a:lstStyle/>
          <a:p>
            <a:endParaRPr lang="ko-KR" altLang="en-US"/>
          </a:p>
        </p:txBody>
      </p:sp>
      <p:sp>
        <p:nvSpPr>
          <p:cNvPr id="14" name="num 3"/>
          <p:cNvSpPr/>
          <p:nvPr/>
        </p:nvSpPr>
        <p:spPr>
          <a:xfrm>
            <a:off x="777240" y="3264408"/>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15" name="num text 3"/>
          <p:cNvSpPr txBox="1"/>
          <p:nvPr/>
        </p:nvSpPr>
        <p:spPr>
          <a:xfrm>
            <a:off x="777240" y="3264408"/>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card title 재고(제품수불) 데이터"/>
          <p:cNvSpPr txBox="1"/>
          <p:nvPr/>
        </p:nvSpPr>
        <p:spPr>
          <a:xfrm>
            <a:off x="1417320" y="3236976"/>
            <a:ext cx="4443984" cy="566928"/>
          </a:xfrm>
          <a:prstGeom prst="rect">
            <a:avLst/>
          </a:prstGeom>
          <a:noFill/>
          <a:ln/>
        </p:spPr>
        <p:txBody>
          <a:bodyPr wrap="square" lIns="0" tIns="0" rIns="0" bIns="0" rtlCol="0" anchor="ctr"/>
          <a:lstStyle/>
          <a:p>
            <a:pPr marL="0" indent="0">
              <a:buNone/>
            </a:pPr>
            <a:r>
              <a:rPr lang="en-US" sz="1600" b="1" dirty="0">
                <a:solidFill>
                  <a:schemeClr val="tx2"/>
                </a:solidFill>
              </a:rPr>
              <a:t>재고(제품수불) 데이터</a:t>
            </a:r>
            <a:endParaRPr lang="en-US" sz="1600" dirty="0"/>
          </a:p>
        </p:txBody>
      </p:sp>
      <p:sp>
        <p:nvSpPr>
          <p:cNvPr id="17" name="card body 재고(제품수불) 데이터"/>
          <p:cNvSpPr txBox="1"/>
          <p:nvPr/>
        </p:nvSpPr>
        <p:spPr>
          <a:xfrm>
            <a:off x="822960" y="3904488"/>
            <a:ext cx="4992624" cy="502920"/>
          </a:xfrm>
          <a:prstGeom prst="rect">
            <a:avLst/>
          </a:prstGeom>
          <a:noFill/>
          <a:ln/>
        </p:spPr>
        <p:txBody>
          <a:bodyPr wrap="square" lIns="0" tIns="0" rIns="0" bIns="0" rtlCol="0" anchor="t"/>
          <a:lstStyle/>
          <a:p>
            <a:pPr marL="0" indent="0">
              <a:spcAft>
                <a:spcPts val="600"/>
              </a:spcAft>
              <a:buNone/>
            </a:pPr>
            <a:r>
              <a:rPr lang="en-US" sz="1300" dirty="0">
                <a:solidFill>
                  <a:schemeClr val="tx1"/>
                </a:solidFill>
              </a:rPr>
              <a:t>가용재고 보드는 현재고가 있어야 '며칠 뒤 부족'을 계산할 수 있다. 지금은 출고·생산 이력만 있다</a:t>
            </a:r>
            <a:endParaRPr lang="en-US" sz="1300" dirty="0"/>
          </a:p>
        </p:txBody>
      </p:sp>
      <p:sp>
        <p:nvSpPr>
          <p:cNvPr id="18" name="card 거래처 사전 발주 정보와 리드타임"/>
          <p:cNvSpPr/>
          <p:nvPr/>
        </p:nvSpPr>
        <p:spPr>
          <a:xfrm>
            <a:off x="6318504" y="3035808"/>
            <a:ext cx="5541264" cy="1554480"/>
          </a:xfrm>
          <a:prstGeom prst="roundRect">
            <a:avLst>
              <a:gd name="adj" fmla="val 7059"/>
            </a:avLst>
          </a:prstGeom>
          <a:solidFill>
            <a:schemeClr val="bg2"/>
          </a:solidFill>
          <a:ln w="12700">
            <a:solidFill>
              <a:schemeClr val="bg2"/>
            </a:solidFill>
            <a:prstDash val="solid"/>
          </a:ln>
        </p:spPr>
        <p:txBody>
          <a:bodyPr/>
          <a:lstStyle/>
          <a:p>
            <a:endParaRPr lang="ko-KR" altLang="en-US"/>
          </a:p>
        </p:txBody>
      </p:sp>
      <p:sp>
        <p:nvSpPr>
          <p:cNvPr id="19" name="num 4"/>
          <p:cNvSpPr/>
          <p:nvPr/>
        </p:nvSpPr>
        <p:spPr>
          <a:xfrm>
            <a:off x="6547104" y="3264408"/>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20" name="num text 4"/>
          <p:cNvSpPr txBox="1"/>
          <p:nvPr/>
        </p:nvSpPr>
        <p:spPr>
          <a:xfrm>
            <a:off x="6547104" y="3264408"/>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1" name="card title 거래처 사전 발주 정보와 리드타임"/>
          <p:cNvSpPr txBox="1"/>
          <p:nvPr/>
        </p:nvSpPr>
        <p:spPr>
          <a:xfrm>
            <a:off x="7187184" y="3236976"/>
            <a:ext cx="4443984" cy="566928"/>
          </a:xfrm>
          <a:prstGeom prst="rect">
            <a:avLst/>
          </a:prstGeom>
          <a:noFill/>
          <a:ln/>
        </p:spPr>
        <p:txBody>
          <a:bodyPr wrap="square" lIns="0" tIns="0" rIns="0" bIns="0" rtlCol="0" anchor="ctr"/>
          <a:lstStyle/>
          <a:p>
            <a:pPr marL="0" indent="0">
              <a:buNone/>
            </a:pPr>
            <a:r>
              <a:rPr lang="en-US" sz="1600" b="1" dirty="0">
                <a:solidFill>
                  <a:schemeClr val="tx2"/>
                </a:solidFill>
              </a:rPr>
              <a:t>거래처 사전 발주 정보와 리드타임</a:t>
            </a:r>
            <a:endParaRPr lang="en-US" sz="1600" dirty="0"/>
          </a:p>
        </p:txBody>
      </p:sp>
      <p:sp>
        <p:nvSpPr>
          <p:cNvPr id="22" name="card body 거래처 사전 발주 정보와 리드타임"/>
          <p:cNvSpPr txBox="1"/>
          <p:nvPr/>
        </p:nvSpPr>
        <p:spPr>
          <a:xfrm>
            <a:off x="6592824" y="3904488"/>
            <a:ext cx="4992624" cy="502920"/>
          </a:xfrm>
          <a:prstGeom prst="rect">
            <a:avLst/>
          </a:prstGeom>
          <a:noFill/>
          <a:ln/>
        </p:spPr>
        <p:txBody>
          <a:bodyPr wrap="square" lIns="0" tIns="0" rIns="0" bIns="0" rtlCol="0" anchor="t"/>
          <a:lstStyle/>
          <a:p>
            <a:pPr marL="0" indent="0">
              <a:spcAft>
                <a:spcPts val="600"/>
              </a:spcAft>
              <a:buNone/>
            </a:pPr>
            <a:r>
              <a:rPr lang="en-US" sz="1300" dirty="0">
                <a:solidFill>
                  <a:schemeClr val="tx1"/>
                </a:solidFill>
              </a:rPr>
              <a:t>큰 거래처 15곳이 물량의 80%. 미리 알려주는 물량이 있으면 예측보다 정확하고, 주문~출고 날짜는 계획 시점을 정한다</a:t>
            </a:r>
            <a:endParaRPr lang="en-US" sz="1300" dirty="0"/>
          </a:p>
        </p:txBody>
      </p:sp>
      <p:sp>
        <p:nvSpPr>
          <p:cNvPr id="23" name="card 월말 전표 품목의 실체, C급의 의미"/>
          <p:cNvSpPr/>
          <p:nvPr/>
        </p:nvSpPr>
        <p:spPr>
          <a:xfrm>
            <a:off x="548640" y="4700016"/>
            <a:ext cx="5541264" cy="1554480"/>
          </a:xfrm>
          <a:prstGeom prst="roundRect">
            <a:avLst>
              <a:gd name="adj" fmla="val 7059"/>
            </a:avLst>
          </a:prstGeom>
          <a:solidFill>
            <a:schemeClr val="bg2"/>
          </a:solidFill>
          <a:ln w="12700">
            <a:solidFill>
              <a:schemeClr val="bg2"/>
            </a:solidFill>
            <a:prstDash val="solid"/>
          </a:ln>
        </p:spPr>
        <p:txBody>
          <a:bodyPr/>
          <a:lstStyle/>
          <a:p>
            <a:endParaRPr lang="ko-KR" altLang="en-US"/>
          </a:p>
        </p:txBody>
      </p:sp>
      <p:sp>
        <p:nvSpPr>
          <p:cNvPr id="24" name="num 5"/>
          <p:cNvSpPr/>
          <p:nvPr/>
        </p:nvSpPr>
        <p:spPr>
          <a:xfrm>
            <a:off x="777240" y="4928616"/>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25" name="num text 5"/>
          <p:cNvSpPr txBox="1"/>
          <p:nvPr/>
        </p:nvSpPr>
        <p:spPr>
          <a:xfrm>
            <a:off x="777240" y="4928616"/>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6" name="card title 월말 전표 품목의 실체, C급의 의미"/>
          <p:cNvSpPr txBox="1"/>
          <p:nvPr/>
        </p:nvSpPr>
        <p:spPr>
          <a:xfrm>
            <a:off x="1417320" y="4901184"/>
            <a:ext cx="4443984" cy="566928"/>
          </a:xfrm>
          <a:prstGeom prst="rect">
            <a:avLst/>
          </a:prstGeom>
          <a:noFill/>
          <a:ln/>
        </p:spPr>
        <p:txBody>
          <a:bodyPr wrap="square" lIns="0" tIns="0" rIns="0" bIns="0" rtlCol="0" anchor="ctr"/>
          <a:lstStyle/>
          <a:p>
            <a:pPr marL="0" indent="0">
              <a:buNone/>
            </a:pPr>
            <a:r>
              <a:rPr lang="en-US" sz="1600" b="1" dirty="0">
                <a:solidFill>
                  <a:schemeClr val="tx2"/>
                </a:solidFill>
              </a:rPr>
              <a:t>월말 전표 품목의 실체, C급의 의미</a:t>
            </a:r>
            <a:endParaRPr lang="en-US" sz="1600" dirty="0"/>
          </a:p>
        </p:txBody>
      </p:sp>
      <p:sp>
        <p:nvSpPr>
          <p:cNvPr id="27" name="card body 월말 전표 품목의 실체, C급의 의미"/>
          <p:cNvSpPr txBox="1"/>
          <p:nvPr/>
        </p:nvSpPr>
        <p:spPr>
          <a:xfrm>
            <a:off x="822960" y="5568696"/>
            <a:ext cx="4992624" cy="502920"/>
          </a:xfrm>
          <a:prstGeom prst="rect">
            <a:avLst/>
          </a:prstGeom>
          <a:noFill/>
          <a:ln/>
        </p:spPr>
        <p:txBody>
          <a:bodyPr wrap="square" lIns="0" tIns="0" rIns="0" bIns="0" rtlCol="0" anchor="t"/>
          <a:lstStyle/>
          <a:p>
            <a:pPr marL="0" indent="0">
              <a:spcAft>
                <a:spcPts val="600"/>
              </a:spcAft>
              <a:buNone/>
            </a:pPr>
            <a:r>
              <a:rPr lang="en-US" sz="1300" dirty="0">
                <a:solidFill>
                  <a:schemeClr val="tx1"/>
                </a:solidFill>
              </a:rPr>
              <a:t>물량의 56%가 월말 일괄 전표 품목이라 실제 출고 패턴을 모른다. C급이 폐기인지 재투입인지에 따라 소요량 계산이 달라진다</a:t>
            </a:r>
            <a:endParaRPr lang="en-US" sz="1300" dirty="0"/>
          </a:p>
        </p:txBody>
      </p:sp>
      <p:sp>
        <p:nvSpPr>
          <p:cNvPr id="28" name="card 운영 개념: 고정 구간과 안전재고"/>
          <p:cNvSpPr/>
          <p:nvPr/>
        </p:nvSpPr>
        <p:spPr>
          <a:xfrm>
            <a:off x="6318504" y="4700016"/>
            <a:ext cx="5541264" cy="1554480"/>
          </a:xfrm>
          <a:prstGeom prst="roundRect">
            <a:avLst>
              <a:gd name="adj" fmla="val 7059"/>
            </a:avLst>
          </a:prstGeom>
          <a:solidFill>
            <a:schemeClr val="bg2"/>
          </a:solidFill>
          <a:ln w="12700">
            <a:solidFill>
              <a:schemeClr val="bg2"/>
            </a:solidFill>
            <a:prstDash val="solid"/>
          </a:ln>
        </p:spPr>
        <p:txBody>
          <a:bodyPr/>
          <a:lstStyle/>
          <a:p>
            <a:endParaRPr lang="ko-KR" altLang="en-US"/>
          </a:p>
        </p:txBody>
      </p:sp>
      <p:sp>
        <p:nvSpPr>
          <p:cNvPr id="29" name="num 6"/>
          <p:cNvSpPr/>
          <p:nvPr/>
        </p:nvSpPr>
        <p:spPr>
          <a:xfrm>
            <a:off x="6547104" y="4928616"/>
            <a:ext cx="502920" cy="502920"/>
          </a:xfrm>
          <a:prstGeom prst="ellipse">
            <a:avLst/>
          </a:prstGeom>
          <a:solidFill>
            <a:schemeClr val="accent1"/>
          </a:solidFill>
          <a:ln w="12700">
            <a:solidFill>
              <a:schemeClr val="accent1"/>
            </a:solidFill>
            <a:prstDash val="solid"/>
          </a:ln>
        </p:spPr>
        <p:txBody>
          <a:bodyPr/>
          <a:lstStyle/>
          <a:p>
            <a:endParaRPr lang="ko-KR" altLang="en-US"/>
          </a:p>
        </p:txBody>
      </p:sp>
      <p:sp>
        <p:nvSpPr>
          <p:cNvPr id="30" name="num text 6"/>
          <p:cNvSpPr txBox="1"/>
          <p:nvPr/>
        </p:nvSpPr>
        <p:spPr>
          <a:xfrm>
            <a:off x="6547104" y="4928616"/>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31" name="card title 운영 개념: 고정 구간과 안전재고"/>
          <p:cNvSpPr txBox="1"/>
          <p:nvPr/>
        </p:nvSpPr>
        <p:spPr>
          <a:xfrm>
            <a:off x="7187184" y="4901184"/>
            <a:ext cx="4443984" cy="566928"/>
          </a:xfrm>
          <a:prstGeom prst="rect">
            <a:avLst/>
          </a:prstGeom>
          <a:noFill/>
          <a:ln/>
        </p:spPr>
        <p:txBody>
          <a:bodyPr wrap="square" lIns="0" tIns="0" rIns="0" bIns="0" rtlCol="0" anchor="ctr"/>
          <a:lstStyle/>
          <a:p>
            <a:pPr marL="0" indent="0">
              <a:buNone/>
            </a:pPr>
            <a:r>
              <a:rPr lang="en-US" sz="1600" b="1" dirty="0">
                <a:solidFill>
                  <a:schemeClr val="tx2"/>
                </a:solidFill>
              </a:rPr>
              <a:t>운영 개념: 고정 구간과 안전재고</a:t>
            </a:r>
            <a:endParaRPr lang="en-US" sz="1600" dirty="0"/>
          </a:p>
        </p:txBody>
      </p:sp>
      <p:sp>
        <p:nvSpPr>
          <p:cNvPr id="32" name="card body 운영 개념: 고정 구간과 안전재고"/>
          <p:cNvSpPr txBox="1"/>
          <p:nvPr/>
        </p:nvSpPr>
        <p:spPr>
          <a:xfrm>
            <a:off x="6592824" y="5568696"/>
            <a:ext cx="4992624" cy="502920"/>
          </a:xfrm>
          <a:prstGeom prst="rect">
            <a:avLst/>
          </a:prstGeom>
          <a:noFill/>
          <a:ln/>
        </p:spPr>
        <p:txBody>
          <a:bodyPr wrap="square" lIns="0" tIns="0" rIns="0" bIns="0" rtlCol="0" anchor="t"/>
          <a:lstStyle/>
          <a:p>
            <a:pPr marL="0" indent="0">
              <a:spcAft>
                <a:spcPts val="600"/>
              </a:spcAft>
              <a:buNone/>
            </a:pPr>
            <a:r>
              <a:rPr lang="en-US" sz="1300" dirty="0">
                <a:solidFill>
                  <a:schemeClr val="tx1"/>
                </a:solidFill>
              </a:rPr>
              <a:t>배포 후 며칠은 계획을 바꾸지 않는 '고정 구간', 품목별 '안전재고' 기준이 있으면 변경 횟수 자체를 줄일 수 있다. 회사 기준이 있는지 확인</a:t>
            </a:r>
            <a:endParaRPr lang="en-US" sz="1300" dirty="0"/>
          </a:p>
        </p:txBody>
      </p:sp>
    </p:spTree>
  </p:cSld>
  <p:clrMapOvr>
    <a:masterClrMapping/>
  </p:clrMapOvr>
</p:sld>
</file>

<file path=ppt/theme/theme1.xml><?xml version="1.0" encoding="utf-8"?>
<a:theme xmlns:a="http://schemas.openxmlformats.org/drawingml/2006/main" name="Saehan Plan">
  <a:themeElements>
    <a:clrScheme name="Saehan Plan">
      <a:dk1>
        <a:srgbClr val="1F2A3C"/>
      </a:dk1>
      <a:lt1>
        <a:srgbClr val="FFFFFF"/>
      </a:lt1>
      <a:dk2>
        <a:srgbClr val="1E3A5F"/>
      </a:dk2>
      <a:lt2>
        <a:srgbClr val="EEF2F7"/>
      </a:lt2>
      <a:accent1>
        <a:srgbClr val="E07B2A"/>
      </a:accent1>
      <a:accent2>
        <a:srgbClr val="1E3A5F"/>
      </a:accent2>
      <a:accent3>
        <a:srgbClr val="5B84B1"/>
      </a:accent3>
      <a:accent4>
        <a:srgbClr val="F2B134"/>
      </a:accent4>
      <a:accent5>
        <a:srgbClr val="7A8494"/>
      </a:accent5>
      <a:accent6>
        <a:srgbClr val="C9463D"/>
      </a:accent6>
      <a:hlink>
        <a:srgbClr val="1E3A5F"/>
      </a:hlink>
      <a:folHlink>
        <a:srgbClr val="7A8494"/>
      </a:folHlink>
    </a:clrScheme>
    <a:fontScheme name="Saehan Plan">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1060</Words>
  <Application>Microsoft Office PowerPoint</Application>
  <PresentationFormat>와이드스크린</PresentationFormat>
  <Paragraphs>115</Paragraphs>
  <Slides>6</Slides>
  <Notes>6</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6</vt:i4>
      </vt:variant>
    </vt:vector>
  </HeadingPairs>
  <TitlesOfParts>
    <vt:vector size="8" baseType="lpstr">
      <vt:lpstr>Arial</vt:lpstr>
      <vt:lpstr>Saehan Plan</vt:lpstr>
      <vt:lpstr>출하예측 기반 생산계획 수립</vt:lpstr>
      <vt:lpstr>프로젝트</vt:lpstr>
      <vt:lpstr>데이터 분석</vt:lpstr>
      <vt:lpstr>예측 방법과 검증</vt:lpstr>
      <vt:lpstr>진행 계획 · 4단계, 단계마다 숫자로 확인</vt:lpstr>
      <vt:lpstr>더 잘 되려면 필요한 것 · 다음 주에 확인</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출하예측 기반 생산계획 수립</dc:title>
  <dc:subject>PptxGenJS Presentation</dc:subject>
  <dc:creator>충북대학교 산학협력 프로젝트</dc:creator>
  <cp:lastModifiedBy>성재 박</cp:lastModifiedBy>
  <cp:revision>2</cp:revision>
  <dcterms:created xsi:type="dcterms:W3CDTF">2026-10-27T10:41:30Z</dcterms:created>
  <dcterms:modified xsi:type="dcterms:W3CDTF">2026-10-27T10:42:15Z</dcterms:modified>
</cp:coreProperties>
</file>